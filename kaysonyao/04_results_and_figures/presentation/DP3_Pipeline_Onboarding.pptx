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83" r:id="rId9"/>
    <p:sldId id="264" r:id="rId10"/>
    <p:sldId id="265" r:id="rId11"/>
    <p:sldId id="284" r:id="rId12"/>
    <p:sldId id="266" r:id="rId13"/>
    <p:sldId id="267" r:id="rId14"/>
    <p:sldId id="268" r:id="rId15"/>
    <p:sldId id="285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77" r:id="rId24"/>
    <p:sldId id="279" r:id="rId25"/>
    <p:sldId id="280" r:id="rId26"/>
    <p:sldId id="278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73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8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279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This Deck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93268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1536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Cohort, design, data modalities, and codebase structure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78992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1078992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78992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30368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30368" y="1536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SOP pipeline · Proteomics QC · Survey data cleaning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249424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49424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49424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95528" y="2359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&amp; longitudinal analysis · outputs &amp; thresholds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2249424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249424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54880" y="2249424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230368" y="2359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30368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&amp; multilabel classifiers · SOP models · feature interpretation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419856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419856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419856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95528" y="35295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5528" y="3877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Enrichr (proteomics) · KEGG (metabolomics, WIP)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419856"/>
            <a:ext cx="42519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54880" y="3419856"/>
            <a:ext cx="384048" cy="10515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54880" y="3419856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230368" y="35295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Here: Metabolomics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230368" y="3877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 for your first run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Cohort — DP3 (Piekos Lab / MWRI)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2743200" cy="12344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436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2004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87552"/>
            <a:ext cx="2743200" cy="123444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347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32004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study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(76.6%)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987552"/>
            <a:ext cx="2743200" cy="1234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105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08076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complications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(30.3%)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377440"/>
            <a:ext cx="850392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breakdown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2834640"/>
            <a:ext cx="1188720" cy="292608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</a:rPr>
              <a:t>HDP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27632" y="28437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40  ·  Hypertensive Disorders of Pregnancy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472" y="3218688"/>
            <a:ext cx="1188720" cy="29260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" y="3218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6534"/>
                </a:solidFill>
              </a:rPr>
              <a:t>FGR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27632" y="3227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 ·  Fetal Growth Restriction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7472" y="3602736"/>
            <a:ext cx="1188720" cy="29260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" y="3602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HDP + FGR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27632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  ·  Co-occurring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" y="3986784"/>
            <a:ext cx="1188720" cy="292608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9867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174D"/>
                </a:solidFill>
              </a:rPr>
              <a:t>sPTB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3995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  ·  Spontaneous Preterm Birth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4370832"/>
            <a:ext cx="118872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7472" y="4370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</a:rPr>
              <a:t>Controls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627632" y="4379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 ·  No complications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2487168"/>
            <a:ext cx="3429000" cy="2487168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394960" y="2487168"/>
            <a:ext cx="3429000" cy="29260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13248" y="250545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</a:rPr>
              <a:t>Multi-Omics Subset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283464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133 participants with complete temporally paired samples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77 with complications (58%)</a:t>
            </a:r>
            <a:endParaRPr lang="en-US" sz="10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HDP · 20 FGR · 4 HDP+FGR · 13 sPTB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controls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 every ~8–10 wks (visits A–E)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Placenta collected at delivery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at Pitt Health Sciences Core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Study Design — Visit Timeline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7955280" cy="0"/>
          </a:xfrm>
          <a:prstGeom prst="line">
            <a:avLst/>
          </a:prstGeom>
          <a:noFill/>
          <a:ln w="317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408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wk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1284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1168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2880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16–20 wk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72160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2044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33756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22–26 wk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52044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3036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4632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28–32 wk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T2/3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39128" y="2029968"/>
            <a:ext cx="237744" cy="237744"/>
          </a:xfrm>
          <a:prstGeom prst="ellipse">
            <a:avLst/>
          </a:prstGeom>
          <a:solidFill>
            <a:srgbClr val="0A709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3796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5508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34–38 wk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247888" y="2029968"/>
            <a:ext cx="237744" cy="237744"/>
          </a:xfrm>
          <a:prstGeom prst="ellipse">
            <a:avLst/>
          </a:prstGeom>
          <a:solidFill>
            <a:srgbClr val="E8A83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467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B59"/>
                </a:solidFill>
              </a:rPr>
              <a:t>PP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6384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wk PP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46720" y="23774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26974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7090"/>
                </a:solidFill>
              </a:rPr>
              <a:t>1st Trimester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0" y="2697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</a:rPr>
              <a:t>2nd Trimester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2697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75985"/>
                </a:solidFill>
              </a:rPr>
              <a:t>3rd Trimester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299923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7472" y="3063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Samples collected at each visit: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47472" y="341985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4747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Blood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33272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— lipidomics, metabolomics, proteomics, transcriptomics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7355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Urine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99632" y="341985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199632" y="3419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Surveys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885432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EPDS (depression) · PSS (stress) · PUQE-24 (nausea)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47472" y="392277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4747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Fitbit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033272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+ sleep (continuously)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273552" y="3922776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27355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Placenta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005072" y="3875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Lipidomics, metabolomics, proteomics, transcriptomics  (delivery)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273945" y="3431537"/>
            <a:ext cx="640080" cy="23774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chemeClr val="bg1"/>
                </a:solidFill>
              </a:rPr>
              <a:t>Air/Water</a:t>
            </a:r>
          </a:p>
        </p:txBody>
      </p:sp>
      <p:sp>
        <p:nvSpPr>
          <p:cNvPr id="53" name="Text 51"/>
          <p:cNvSpPr/>
          <p:nvPr/>
        </p:nvSpPr>
        <p:spPr>
          <a:xfrm>
            <a:off x="6199632" y="39227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Air/Water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073652" y="3363321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data at enrollment + T3 start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 Structure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OVERVIEW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2194560" cy="85953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01_data_cleaning/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cleaned CSVs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06040" y="109728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sop_omics_pipeline.py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clean_proteomics_data.py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clean_lipids_data.py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clean_survey_data.py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format_proteomics.py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96596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94560" cy="85953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1480" y="2039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02_exploratory_analysis/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4414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&amp; visual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05740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identify_differential_analytes_proteomics.py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generate_differential_cluster_heatmap_limited_group.py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run_sop_differential.py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2194560" cy="859536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9992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03_model_development/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+ enrichment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06040" y="301752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binary_classifier.py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multilabel_classifier.py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run_sop_models.py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run_survey_models.py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feature_interpretation.py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superset_enrichment_analysis.py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utilities.py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886200"/>
            <a:ext cx="8503920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3886200"/>
            <a:ext cx="2194560" cy="859536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3959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04_results_and_figures/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artefacts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06040" y="3977640"/>
            <a:ext cx="6080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differential_analysis/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exploratory/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477316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data/  is not in the repo.  Cleaned outputs live in  data/cleaned/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&amp; Lipidomics Preprocessing — Part 1 &amp; 2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&amp; LIPIDOMICS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input &amp; sample parsing (Steps 1–2)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Discoverer export: standardize missing values; parse batch identity, sample type (QC pool / biological / bridge), and injection order (F-number) from raw file headers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ISTD drift assessment &amp; normalization (Steps 3–4)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ISTD signal + TIC vs injection order per batch; divide each sample by geometric mean of ISTD signals to correct within-batch drift; remove ISTD features from matrix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fold-change batch normalization (Step 5)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batches to a common reference using QC pool medians; corrects the ~2-year inter-batch signal gap; log scaling factor per batch; verify residual drift post-normalization (Step 6)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filtering &amp; log₂ transform (Steps 7–10)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features &gt;20% missing; drop samples &gt;50% missing; log₂(x+1) transform; half-minimum imputation per feature (required before ComBat)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batch correction (Steps 11–15)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Pre-correction PCA + batch confounding check; ComBat on log₂-transformed data; post-correction PCA; intensity check for ComBat artifacts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&amp; feature QC + bridge averaging (Steps 16–19)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ISTD MAD sample QC (±5 MAD, two-sided); RSD filter on QC pools (&gt;30% → drop); IQR filter (near-constant / hypervariable features); average bridge samples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987552"/>
            <a:ext cx="406908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987552"/>
            <a:ext cx="4069080" cy="31089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00600" y="10058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Key Scripts &amp; Outputs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1371600"/>
            <a:ext cx="3886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sop_omics_pipeline.py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SOP v4 preprocessing pipeline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MTBL_sop and LIPD_sop datasets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locations: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data/cleaned/sop_omics_pipeline_v2/MTBL_plasma/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data/cleaned/sop_omics_pipeline_v2/LIPD_plasma/ (lipidomics)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CSV: rows = samples, cols = analytes + metadata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cols: SampleID, SubjectID, Group, Subgroup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Analyte values: log₂ scale, numerics only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&amp; Lipidomics Preprocessing — Part 3: Deduplication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&amp; LIPIDOMICS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classification (Step 21)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classified as parent ion, isotope, adduct, fragment, or in-source artifact using a modification list (adduct Δm/z table); classification drives which features are collapsed or removed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Within-compound deduplication — Part 3A (Steps 20–25)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features Compound Discoverer named to the same compound: score by mass accuracy + MS2 quality + Peak Rating; select one representative per compound name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Cross-feature deduplication — Part 3B (Steps 26–28)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unannotated features: group by formula (same neutral mass), then by m/z ±0.02 Da + RT ±0.2 min; collapse adduct relationships; keep highest-quality representative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ionization modes (Step 30)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POS and NEG mode feature matrices; cross-polarity duplicates resolved by mass + RT; unified feature table covers both ionization modes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Schymanski annotation tiers (Step 31)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L1: confirmed authentic standard  •  L2: library MS2 match  •  L3: formula + MS2  •  L4: formula only  •  L5: m/z only (no structural info)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outputs (Steps 32–35)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metadata (Group, SubjectID); split by timepoint A–E; biological trajectory plots; pipeline log with per-step feature counts, ISTD names, drift flags, Schymanski tier breakdown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987552"/>
            <a:ext cx="406908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54880" y="987552"/>
            <a:ext cx="4069080" cy="31089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00600" y="10058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Typical Feature Counts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1371600"/>
            <a:ext cx="3886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~1,500–3,000 raw features per polarity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Part 3A: ~600–1,200 (named dedup)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Part 3B: further reduction for unannotated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POS+NEG merge: final analyte matrix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dataset: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MTBL_plasma_suffix_A.csv  (one per timepoint)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MTBL_placenta_cleaned_with_metadata.csv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pipeline_log.txt  •  drop_log.csv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Data: File Naming &amp; CSV Format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0599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METABOLOMICS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14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File naming convention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207008"/>
            <a:ext cx="8458200" cy="107899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207008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0624" y="1252728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1252728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76656" y="1252728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" y="1440180"/>
            <a:ext cx="8275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SOP v4 pipeline outputs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data/cleaned/sop_omics_pipeline_v2/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MTBL_plasma/MTBL_plasma_suffix_A.csv          #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LIPD_plasma/LIPD_plasma_suffix_A.csv          # lipidomics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" y="23957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CSV structure (wide format)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" y="2697480"/>
            <a:ext cx="8458200" cy="117043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47472" y="269748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20624" y="274320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274320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" y="274320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8912" y="2834640"/>
            <a:ext cx="8275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Columns: metadata first, then one column per analyte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SampleID  SubjectID  Group      Subgroup  Batch  GestAgeDelivery  SampleGestAge  phe  trp  val 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P001A     S001       Control    Control   1      38.2             12.4           7.31 6.82 5.19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P002A     S002       HDP        HDP       1      35.6             11.8           6.97 7.12 5.43 ...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Group labels after normalise_group_labels():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'Control' → 0,  'HDP'/'FGR'/'sPTB'/'Complication' → 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7472" y="39776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How analyte columns are identified in code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47472" y="4279392"/>
            <a:ext cx="8458200" cy="749808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47472" y="4279392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20624" y="4325112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" y="4325112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76656" y="4325112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8912" y="4535424"/>
            <a:ext cx="8275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utilities import get_analyte_columns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analyte_cols = get_analyte_columns(df)   # excludes SampleID, SubjectID, Group, Subgroup, Batch, ...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Returns list of column names that are purely numeric (analyte values)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Proteomics Preprocessing — Olink NPX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PROTEOMICS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Olink NPX 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Normalised Protein eXpression values from Olink — already in log₂(NPX) scale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QC mask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Remove assays flagged by Olink QC warnings per sample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Panel normalisation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Correct for cross-panel NPX offset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ComBat batch correction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Harmonic batch correction using sample batch labels from metadata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Missingness filter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Drop assays &gt;80% missing post-ComBat; Fisher's test for group-imbalanced missing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Below-LOD imputation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Half-minimum imputation (per analyte, log₂ scale)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00600" y="987552"/>
            <a:ext cx="402336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00600" y="987552"/>
            <a:ext cx="4023360" cy="31089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4632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Script &amp; Outputs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92040" y="137160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clean_proteomics_data.py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auto mode from project root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plasma and placenta separately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data/cleaned/proteomics/normalized_full_results/proteomics_plasma_cleaned_with_metadata.csv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data/cleaned/proteomics/normalized_full_results/proteomics_placenta_cleaned_with_metadata.csv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Timepoint slicing: format_proteomics.py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full plasma CSV by SampleGestAge → suffix A–E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normalized_sliced_by_suffix/proteomics_plasma_formatted_suffix_*.csv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~1,472 proteins (Olink Explore 1536)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Plasma: 5 timepoints × ~90–110 samples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Placenta: single delivery timepoint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Data Preprocessing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 ·  SURVEY 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292608" cy="292608"/>
          </a:xfrm>
          <a:prstGeom prst="ellipse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0241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REDCap export ingestion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2984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clean_survey_data.py reads REDCap clinical export; filters to survey visits A, C, D, and PP (postpartum); no omics record required — uses the full clinical cohort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" y="1399032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755648"/>
            <a:ext cx="292608" cy="29260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168249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Survey scoring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" y="195681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EPDS (Edinburgh Postnatal Depression Scale): 10 items → total score (0–30)  •  PSS (Perceived Stress Scale): 10 items → total score (0–40)  •  PUQE-24 (nausea/vomiting): summary score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1772" y="2057400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292608" cy="29260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23408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Metadata merge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261518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Attach Group (Control/HDP/FGR/sPTB), SubjectID, Subgroup from clinical data; survey analysis uses all participants with data at each visit, not just the n=133 omics subset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" y="2715768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292608" cy="292608"/>
          </a:xfrm>
          <a:prstGeom prst="ellipse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29992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Timepoint slicing (run_survey_models.py)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327355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Split into one CSV per survey × visit; visits: A (5–13 wk), C (20–28 wk), D (29–36 wk), PP (6–8 wk postpartum); format mirrors omics model-ready files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" y="3374136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292608" cy="292608"/>
          </a:xfrm>
          <a:prstGeom prst="ellipse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ML model-ready matrices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39319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same binary/multilabel classifier pipeline as omics; features = item-level scores + total score; run_survey_models.py prepares matrices and runs both binary and multilabel classifiers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" y="4032504"/>
            <a:ext cx="0" cy="29260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292608" cy="292608"/>
          </a:xfrm>
          <a:prstGeom prst="ellipse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43159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Output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3232" y="45902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data/cleaned/survey/{epds,pss,puqe24}_cleaned.csv  •  data/cleaned/survey/model_ready/{survey}/normalized_sliced_by_suffix/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00600" y="987552"/>
            <a:ext cx="4023360" cy="400507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00600" y="987552"/>
            <a:ext cx="4023360" cy="310896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4632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Script &amp; Coverage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92040" y="137160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clean_survey_data.py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Instruments: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EPDS — Edinburgh Postnatal Depression Scale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PSS — Perceived Stress Scale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PUQE-24 — Nausea/Vomiting in Pregnancy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Visits: A  •  C  •  D  •  PP (postpartum)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PP visit is survey-only;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blood draw / omics at PP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Population: full clinical cohort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(not restricted to n=133 omics subset)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4114800" cy="40233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Cross-Sectional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timepoint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114800" cy="4023360"/>
          </a:xfrm>
          <a:prstGeom prst="rect">
            <a:avLst/>
          </a:prstGeom>
          <a:solidFill>
            <a:srgbClr val="F0FDF4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4114800" cy="3474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Longitudinal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participant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per dataset per timepoint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vs Complication (HDP+FGR+sPTB pooled)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Mann-Whitney U (two-sided)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Benjamini-Hochberg q &lt; 0.05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|log₂FC| ≥ log₂(1.5) ≈ 0.585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n = 5 non-missing per group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Within-group Wilcoxon signed-rank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Per-subject adjacent deltas: B−A, C−B, D−C, E−D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per group: Control, HDP, FGR, sPTB, Complication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FDR + |log₂FC| thresholds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per group × step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3101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Scripts: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" y="3703320"/>
            <a:ext cx="8412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02_exploratory_analysis/identify_differential_analytes.py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 → runs full default pipeline (CS + longitudinal, both omics types)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--omics-type metabolomics  OR  --omics-type proteomics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02_exploratory_analysis/run_sop_differential.py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on SOP v4 (MTBL_sop/LIPD_sop) datasets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04_results_and_figures/differential_analysis/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Output Files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960120"/>
            <a:ext cx="8458200" cy="2606040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" y="100584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100584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76656" y="100584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1216152"/>
            <a:ext cx="8275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04_results_and_figures/differential_analysis/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proteomics/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plasma/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cross_sectional/&lt;A-E&gt;/Control_vs_Complication_differential_results.csv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longitudinal/&lt;Group&gt;_&lt;T2&gt;_minus_&lt;T1&gt;_longitudinal_results.csv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placenta/cross_sectional/Control_vs_Complication_differential_results.csv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metabolomics/       (same structure as proteomics)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plasma/cross_sectional/&lt;A-E&gt;/Control_vs_Complication_differential_results.csv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MTBL_sop/           (SOP v4 metabolomics)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LIPD_sop/           (SOP v4 lipidomics)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472" y="3657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Key columns in each results CSV: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472" y="404164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4041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analyte_id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83664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404164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63440" y="40416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log2_fc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99632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log₂(Complication / Control) fold-change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" y="440740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" y="4407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p_value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83664" y="4370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p-value from Mann-Whitney U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440740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63440" y="4407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q_value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99632" y="43708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BH-adjusted FDR p-value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" y="477316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significant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83664" y="47365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if q &lt; 0.05 AND |log2_fc| ≥ 0.585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773168"/>
            <a:ext cx="1463040" cy="256032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63440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n_ctrl / n_compl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99632" y="47365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Non-missing observations per group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— Survey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  ·  SURVEY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4114800" cy="40233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Cross-Group Comparison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Per survey × visit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114800" cy="4023360"/>
          </a:xfrm>
          <a:prstGeom prst="rect">
            <a:avLst/>
          </a:prstGeom>
          <a:solidFill>
            <a:srgbClr val="F0FDF4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960120"/>
            <a:ext cx="4114800" cy="3474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9784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Pairwise Tests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960120"/>
            <a:ext cx="41148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1FAE5"/>
                </a:solidFill>
              </a:rPr>
              <a:t>Control vs each group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per survey × visit combination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Instruments: EPDS, PSS, PUQE-24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Visits: A, C, D, PP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test: Kruskal-Wallis H (all 4 groups)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Benjamini-Hochberg q &lt; 0.05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U: Control vs FGR, Control vs HDP, Control vs sPTB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n = 5 per group to run test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FDR applied within each survey × visit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all pairwise tests + significant pairs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violin + strip plots per survey × visit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3101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Script: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" y="3703320"/>
            <a:ext cx="8412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02_exploratory_analysis/survey_distribution_analysis.py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args → runs all 3 surveys × all 4 visits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04_results_and_figures/survey/{survey}/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D3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{survey}_{visit}_distribution.png</a:t>
            </a:r>
            <a:endParaRPr lang="en-US" sz="105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{survey}_stats_results.csv  (all pairwise tests)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{survey}_significant_pairs.csv  (q &lt; 0.05 only)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Pipeline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1371600"/>
            <a:ext cx="1170432" cy="9601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Input CSV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Wide-format cleaned CSV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(SampleID × analytes + metadata)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17904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91056" y="1371600"/>
            <a:ext cx="1170432" cy="9601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91056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91056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70/15/15 Split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91056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Stratified train / val / test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(participant-level, never sample-level)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61488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834640" y="1371600"/>
            <a:ext cx="1170432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834640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4640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Diff Pre-filter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Optional: retain only q&lt;0.05 analytes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from differential analysis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05072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078224" y="1371600"/>
            <a:ext cx="1170432" cy="960120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078224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78224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LASSO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78224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L1 logistic CV (binary) 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MultiTaskLASSOCV (multilabel)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248656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321808" y="1371600"/>
            <a:ext cx="1170432" cy="960120"/>
          </a:xfrm>
          <a:prstGeom prst="rect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21808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21808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Optuna Tuning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21808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TPE Bayesian search on val set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PR-AUC objective · n_trials=50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92240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565392" y="1371600"/>
            <a:ext cx="1170432" cy="96012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65392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65392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10-fold CV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65392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Tuned model on train split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4 learners evaluated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35824" y="1847088"/>
            <a:ext cx="73152" cy="0"/>
          </a:xfrm>
          <a:prstGeom prst="line">
            <a:avLst/>
          </a:prstGeom>
          <a:noFill/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808976" y="1371600"/>
            <a:ext cx="1170432" cy="960120"/>
          </a:xfrm>
          <a:prstGeom prst="rect">
            <a:avLst/>
          </a:prstGeom>
          <a:solidFill>
            <a:srgbClr val="153E5C"/>
          </a:solidFill>
          <a:ln w="12700">
            <a:solidFill>
              <a:srgbClr val="153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808976" y="140817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D8C8"/>
                </a:solidFill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08976" y="16459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Final Eval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808976" y="192024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Best val PR-AUC model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EE3F8"/>
                </a:solidFill>
              </a:rPr>
              <a:t>retrained on train+val, tested on test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254203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47472" y="26334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Models evaluated at each condition (tissue × timepoint):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944368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47472" y="2944368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30352" y="29900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Logistic Regression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0352" y="32186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L2 penalty · class_weight=balanced · solver liblinear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663440" y="2944368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63440" y="2944368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29900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Random Forest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46320" y="32186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Balanced class weights · max_features = sqrt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47472" y="3547872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47472" y="3547872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30352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XGBoost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30352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scale_pos_weight = n_neg/n_pos · tree booster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663440" y="3547872"/>
            <a:ext cx="413308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663440" y="3547872"/>
            <a:ext cx="91440" cy="51206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846320" y="3593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SVM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846320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RBF kernel · class_weight=balanced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47472" y="48097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Primary metric: PR-AUC (average precision) — accounts for class imbalance  ·  RobustScaler applied inside every fold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Classifier — binary_classifier.py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907792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69264"/>
            <a:ext cx="4572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Control (0) vs pooled Complication (1)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tissue × timepoint combination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pooled: HDP + FGR + sPTB → 'Complication'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Tissues: plasma (A–E) + placenta (all)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condition: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sample_splits.csv — which samples are train/val/test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lasso_selected_features.csv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tuned_hyperparams.json — Optuna best params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summary.json — all metrics + best model name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X_trainval_scaled.csv + X_test_scaled.csv</a:t>
            </a:r>
            <a:endParaRPr lang="en-US" sz="11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+ PR curve PNGs per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all_results_summary.csv — aggregate across conditions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74920" y="969264"/>
            <a:ext cx="3749040" cy="190195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74920" y="969264"/>
            <a:ext cx="374904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148072" y="1014984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276088" y="1014984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04104" y="1014984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66360" y="1225296"/>
            <a:ext cx="356616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Default: proteomics, all timepoints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--file-prefix metabolomics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--plasma-dir data/cleaned/metabolomics/...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Specific timepoints only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--timepoints A B C  --skip-placenta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 number of Optuna trials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--n-trials 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74920" y="2962656"/>
            <a:ext cx="3749040" cy="190195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74920" y="2962656"/>
            <a:ext cx="374904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148072" y="3008376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76088" y="3008376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04104" y="3008376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66360" y="3218688"/>
            <a:ext cx="35661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SOP v4 datasets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--dataset MTBL_sop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Both MTBL_sop and LIPD_sop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differential pre-filter (ablation)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03_model_development/run_sop_nodiff.py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--dataset MTBL_sop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Multilabel Classifier &amp; Feature Interpretation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8503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1828800" cy="1828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0584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Multilabel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Classifier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31720" y="1024128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predict HDP, FGR, sPTB jointly (3 binary outputs)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MultiTaskLASSOCV for joint feature selection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Optuna + CV loop as binary classifier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macro-average PR-AUC across 3 outcomes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multilabel_classifier.py  (same CLI flags as binary)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907792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2999232"/>
            <a:ext cx="8503920" cy="20116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999232"/>
            <a:ext cx="1828800" cy="201168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301752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Feature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Interpretation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0632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feature_interpretation.py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methods per condition: Gini importance (tree), SHAP (kernel), LIME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best binary model from each tissue × timepoint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restricted to LASSO superset features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combined panel plot per condition (PNG)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run_permutation_test.py — permutes training labels 1000× to validate PR-AUC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 — Proteomics (Enrichr ORA)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99008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990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ENRICHMENT  ·  PROTEOMICS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LASSO-selected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features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(per timepoint)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76272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77440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77440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Union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'superset'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across timepoints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06240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07408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07408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Enrichr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5 databases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6208" y="1453896"/>
            <a:ext cx="201168" cy="0"/>
          </a:xfrm>
          <a:prstGeom prst="line">
            <a:avLst/>
          </a:prstGeom>
          <a:noFill/>
          <a:ln w="254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37376" y="1051560"/>
            <a:ext cx="1828800" cy="804672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37376" y="105156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Dot-plot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+ CSV results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198424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2084832"/>
            <a:ext cx="4160520" cy="2724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21762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Enrichr databases queried: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505456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2505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GO:BP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42416" y="25237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GO_Biological_Process_2025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907792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9077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GO:MF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42416" y="2926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GO_Molecular_Function_2025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310128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331012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GO:CC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4241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GO_Cellular_Component_2025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712464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371246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KEGG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42416" y="37307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KEGG_2026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512064" cy="27432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114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Reactome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42416" y="41330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Reactome_Pathways_2024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084832"/>
            <a:ext cx="4206240" cy="2724912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54880" y="2176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59"/>
                </a:solidFill>
              </a:rPr>
              <a:t>Running the analysis: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2487168"/>
            <a:ext cx="4023360" cy="1078992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09160" y="2487168"/>
            <a:ext cx="402336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82312" y="2532888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10328" y="2532888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38344" y="2532888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46812" y="264261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03_model_development/superset_enrichment_analysis.py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--binary-results-dir 04_results_and_figures/models/binary/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--superset-timepoints A B C 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--fdr-threshold 0.05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725875" y="3707892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lasso_selected_features.csv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timepoint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sets: plasma A–D + placenta + superset union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FDR: Enrichr adjusted p-value &lt; 0.05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superset_enrichment/ per set + dot-plot PNG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3B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Here: Metabolomics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280160" cy="10972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Metabolomics Pipeline — Step by Step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496312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 ·  METABOLOMICS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329184" cy="594360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9875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10149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Get data access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12618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 paths: data/cleaned/metabolomics/  and  data/cleaned/sop_omics_pipeline_v2/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" y="15910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1673352"/>
            <a:ext cx="329184" cy="5943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6733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17007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Install dependencies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19476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pandas numpy scipy statsmodels scikit-learn xgboost optuna shap lime matplotlib requests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" y="22768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359152"/>
            <a:ext cx="329184" cy="59436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3591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3865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differential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9808" y="26334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02_exploratory_analysis/identify_differential_analytes.py --omics-type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→ 04_results_and_figures/differential_analysis/metabolomics/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" y="29626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044952"/>
            <a:ext cx="329184" cy="594360"/>
          </a:xfrm>
          <a:prstGeom prst="rect">
            <a:avLst/>
          </a:prstGeom>
          <a:solidFill>
            <a:srgbClr val="0E4F6A"/>
          </a:solidFill>
          <a:ln w="12700">
            <a:solidFill>
              <a:srgbClr val="0E4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0449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30723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binary classifiers (standard metabolomics)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" y="33192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03_model_development/binary_classifier.py  --file-prefix metabolomics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--plasma-dir data/cleaned/metabolomics/normalized_sliced_by_suffix/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--output-dir 04_results_and_figures/models/binary/metabolomics/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0916" y="36484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730752"/>
            <a:ext cx="329184" cy="594360"/>
          </a:xfrm>
          <a:prstGeom prst="rect">
            <a:avLst/>
          </a:prstGeom>
          <a:solidFill>
            <a:srgbClr val="1A3A52"/>
          </a:solidFill>
          <a:ln w="12700">
            <a:solidFill>
              <a:srgbClr val="1A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0040" y="37307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" y="37581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SOP v4 classifiers (MTBL_sop)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9808" y="40050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03_model_development/run_sop_models.py --dataset MTBL_sop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→ 04_results_and_figures/models/binary/MTBL_sop/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" y="4334256"/>
            <a:ext cx="0" cy="914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416552"/>
            <a:ext cx="329184" cy="594360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" y="4416552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9808" y="4443984"/>
            <a:ext cx="8092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Inspect results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49808" y="4690872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at summary.json per condition for PR-AUC.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lasso_selected_features.csv for selected analytes.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*_pr_curve.png to visualise model performance.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— Superset &amp; Differential Pre-filter Logic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7772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METABOLOMICS  ·  CODE DETAIL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472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Why we use a differential pre-filter (and not just LASSO) for metabolomics: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280160"/>
            <a:ext cx="8458200" cy="960120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28016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0624" y="132588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132588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76656" y="132588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1536192"/>
            <a:ext cx="8275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binary_classifier.py — the differential pre-filter step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sig_analytes = load_significant_analytes(sig_csv)   # q&lt;0.05 AND |log2FC|&gt;=0.585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sig_analytes is passed to run_binary_pipeline()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If None → all analyte columns used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If list → only those columns are given to LASSO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95728"/>
            <a:ext cx="850392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24871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59"/>
                </a:solidFill>
              </a:rPr>
              <a:t>Superset concept — shared across scripts: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" y="2788920"/>
            <a:ext cx="8458200" cy="1115568"/>
          </a:xfrm>
          <a:prstGeom prst="rect">
            <a:avLst/>
          </a:prstGeom>
          <a:solidFill>
            <a:srgbClr val="1A2B3C"/>
          </a:solidFill>
          <a:ln w="6350">
            <a:solidFill>
              <a:srgbClr val="2D4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47472" y="2788920"/>
            <a:ext cx="8458200" cy="201168"/>
          </a:xfrm>
          <a:prstGeom prst="rect">
            <a:avLst/>
          </a:prstGeom>
          <a:solidFill>
            <a:srgbClr val="0D2233"/>
          </a:solidFill>
          <a:ln w="12700">
            <a:solidFill>
              <a:srgbClr val="0D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0624" y="2834640"/>
            <a:ext cx="91440" cy="91440"/>
          </a:xfrm>
          <a:prstGeom prst="ellipse">
            <a:avLst/>
          </a:prstGeom>
          <a:solidFill>
            <a:srgbClr val="E8655E"/>
          </a:solidFill>
          <a:ln w="12700">
            <a:solidFill>
              <a:srgbClr val="E86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2834640"/>
            <a:ext cx="91440" cy="91440"/>
          </a:xfrm>
          <a:prstGeom prst="ellipse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6656" y="2834640"/>
            <a:ext cx="91440" cy="91440"/>
          </a:xfrm>
          <a:prstGeom prst="ellipse">
            <a:avLst/>
          </a:prstGeom>
          <a:solidFill>
            <a:srgbClr val="5CBF6A"/>
          </a:solidFill>
          <a:ln w="12700">
            <a:solidFill>
              <a:srgbClr val="5C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8912" y="3044952"/>
            <a:ext cx="82753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utilities.py — collect_superset_features()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9D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Union of LASSO-selected features across all plasma timepoints + placenta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utilities import collect_superset_features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superset = collect_superset_features(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base_dir='04_results_and_figures/models/binary/proteomics/',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timepoints=['A', 'B', 'C', 'D']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8D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7472" y="40050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For metabolomics, LASSO often selects all features → superset = all analytes → not useful for enrichment.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Instead: use differential analysis hits (q&lt;0.05) directly as the enrichment input.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" y="4480560"/>
            <a:ext cx="8503920" cy="548640"/>
          </a:xfrm>
          <a:prstGeom prst="rect">
            <a:avLst/>
          </a:prstGeom>
          <a:solidFill>
            <a:srgbClr val="F0F9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453542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3B59"/>
                </a:solidFill>
              </a:rPr>
              <a:t>utilities.py  (03_model_development) contains: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7490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load_data()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492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normalise_group_labels()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949440" y="453542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get_analyte_columns()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7490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collect_superset_features()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492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build_tuned_model_binary()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49440" y="47914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TIMEPOINTS / OUTCOMES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Quick-Start Checklist for Metabolomics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47472" y="1078992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106424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106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Setup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03327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Clone Repo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" y="1591056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5800" y="1618488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16184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Setup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91640" y="154533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Install Python dependencies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91640" y="17739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pandas, numpy, scipy, scikit-learn, xgboost, optuna, shap, lime, matplotlib, requests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" y="210312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2130552"/>
            <a:ext cx="914400" cy="201168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2130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B21B6"/>
                </a:solidFill>
              </a:rPr>
              <a:t>Preprocessing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205740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Verify cleaned CSVs exist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2286000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for metabolomics_plasma_formatted_suffix_A.csv through 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2615184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5800" y="2642616"/>
            <a:ext cx="914400" cy="20116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" y="2642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</a:rPr>
              <a:t>Diff. Analysis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91640" y="2569464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differential analysis for metabolomics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2798064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02_exploratory_analysis/identify_differential_analytes.py --omics-type metabolomics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47472" y="3127248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914400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5800" y="31546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40AF"/>
                </a:solidFill>
              </a:rPr>
              <a:t>ML Models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691640" y="308152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binary classifiers (standard metabolomics)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691640" y="331012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binary_classifier.py --file-prefix metabolomics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472" y="3639312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" y="3666744"/>
            <a:ext cx="914400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85800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40AF"/>
                </a:solidFill>
              </a:rPr>
              <a:t>ML Models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91640" y="359359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SOP v4 classifiers (MTBL_sop)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691640" y="38221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run_sop_models.py --dataset MTBL_sop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7472" y="4151376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85800" y="4178808"/>
            <a:ext cx="914400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5800" y="4178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4155"/>
                </a:solidFill>
              </a:rPr>
              <a:t>Results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691640" y="410565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Check summary.json for each condition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691640" y="433425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field: test_metrics.&lt;BestModel&gt;.pr_auc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47472" y="4663440"/>
            <a:ext cx="25603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85800" y="4690872"/>
            <a:ext cx="91440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85800" y="46908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2400E"/>
                </a:solidFill>
              </a:rPr>
              <a:t>Open Task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91640" y="46177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B59"/>
                </a:solidFill>
              </a:rPr>
              <a:t>Run pathway enrichment or Functional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3B59"/>
          </a:solidFill>
          <a:ln w="12700">
            <a:solidFill>
              <a:srgbClr val="0D3B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64008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987552"/>
            <a:ext cx="4160520" cy="1920240"/>
          </a:xfrm>
          <a:prstGeom prst="rect">
            <a:avLst/>
          </a:prstGeom>
          <a:solidFill>
            <a:srgbClr val="FFFBEB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987552"/>
            <a:ext cx="4160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0058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Survey: Look up diet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389888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survey data preprocessing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90872" y="987552"/>
            <a:ext cx="4160520" cy="1920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90872" y="987552"/>
            <a:ext cx="4160520" cy="329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782312" y="10058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Metabolomics: Run </a:t>
            </a:r>
            <a:r>
              <a:rPr lang="en-US" sz="1100" b="1" dirty="0" err="1">
                <a:solidFill>
                  <a:srgbClr val="FFFFFF"/>
                </a:solidFill>
              </a:rPr>
              <a:t>MetaboAnalyst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389888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Functional analysis &amp; Pathway/Enrichment Analysis at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MetaboAnalyst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Note: Functional Analysis should take all analytes as input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017520"/>
            <a:ext cx="4160520" cy="1920240"/>
          </a:xfrm>
          <a:prstGeom prst="rect">
            <a:avLst/>
          </a:prstGeom>
          <a:solidFill>
            <a:srgbClr val="F0FDFA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3017520"/>
            <a:ext cx="4160520" cy="329184"/>
          </a:xfrm>
          <a:prstGeom prst="rect">
            <a:avLst/>
          </a:prstGeom>
          <a:solidFill>
            <a:srgbClr val="0A7090"/>
          </a:solidFill>
          <a:ln w="12700">
            <a:solidFill>
              <a:srgbClr val="0A7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0358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</a:rPr>
              <a:t>Request MODIFICATION_LIST_CSV from Sam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Metabolite/Lipid SOP Appendix A, this file is also associated with step 21 and step 28.</a:t>
            </a:r>
          </a:p>
          <a:p>
            <a:pPr marL="0" indent="0">
              <a:buNone/>
            </a:pPr>
            <a:endParaRPr lang="en-US" sz="100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Currently using a canonical list I searched from the Internet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90872" y="3017520"/>
            <a:ext cx="4160520" cy="192024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94A3B8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90872" y="3017520"/>
            <a:ext cx="4160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82312" y="30358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Calculate Lead Time in Modeling &amp; Validate Model with foreign Dataset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3419856"/>
            <a:ext cx="3886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Once Sam gets diagnosis time, we can calculate the lead time as how much earlier the model is able to give a complication warning before diagnosis.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4067</Words>
  <Application>Microsoft Macintosh PowerPoint</Application>
  <PresentationFormat>On-screen Show (16:9)</PresentationFormat>
  <Paragraphs>589</Paragraphs>
  <Slides>26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DP3 Multi-Omics Analysis Pipeline — Onboarding Guide</dc:title>
  <dc:subject>PptxGenJS Presentation</dc:subject>
  <dc:creator>Kayson Yao</dc:creator>
  <cp:lastModifiedBy>Kayson Yao</cp:lastModifiedBy>
  <cp:revision>13</cp:revision>
  <dcterms:created xsi:type="dcterms:W3CDTF">2026-05-07T05:39:28Z</dcterms:created>
  <dcterms:modified xsi:type="dcterms:W3CDTF">2026-05-11T11:46:51Z</dcterms:modified>
</cp:coreProperties>
</file>