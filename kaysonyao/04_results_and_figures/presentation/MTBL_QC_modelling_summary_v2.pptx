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Positive Mode (POS) · Before Batch Correction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solidFill>
            <a:srgbClr val="B03020"/>
          </a:solidFill>
          <a:ln/>
        </p:spPr>
      </p:sp>
      <p:sp>
        <p:nvSpPr>
          <p:cNvPr id="5" name="Text 3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822960"/>
            <a:ext cx="5376672" cy="4032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ref.batch=51223, bridge n=20 · Protected covariates: Subgroup, SampleGestAge, GestAgeDelivery · Positive Mode (POS)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Positive Mode (POS) · After Batch Correction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841248"/>
            <a:ext cx="4407408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solidFill>
            <a:srgbClr val="1B7A8A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Obstetric Group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41248"/>
            <a:ext cx="4407408" cy="4023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ref.batch=51223, bridge n=20 · Protected covariates: Subgroup, SampleGestAge, GestAgeDelivery · Positive Mode (POS)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Negative Mode (NEG) · Before Batch Correction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solidFill>
            <a:srgbClr val="B03020"/>
          </a:solidFill>
          <a:ln/>
        </p:spPr>
      </p:sp>
      <p:sp>
        <p:nvSpPr>
          <p:cNvPr id="5" name="Text 3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822960"/>
            <a:ext cx="5376672" cy="4032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ref.batch=51223, bridge n=20 · Protected covariates: Subgroup, SampleGestAge, GestAgeDelivery · Negative Mode (NEG)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Negative Mode (NEG) · After Batch Correction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841248"/>
            <a:ext cx="4407408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solidFill>
            <a:srgbClr val="1B7A8A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Obstetric Group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41248"/>
            <a:ext cx="4407408" cy="4023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ref.batch=51223, bridge n=20 · Protected covariates: Subgroup, SampleGestAge, GestAgeDelivery · Negative Mode (NEG)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Placenta · Positive Mode (POS) · Before Batch Correction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solidFill>
            <a:srgbClr val="B03020"/>
          </a:solidFill>
          <a:ln/>
        </p:spPr>
      </p:sp>
      <p:sp>
        <p:nvSpPr>
          <p:cNvPr id="5" name="Text 3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822960"/>
            <a:ext cx="5376672" cy="4032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batch correction · Single tissue harvest, no longitudinal timepoints · 112 samples · Positive Mode (POS)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Placenta · Positive Mode (POS) · After Batch Correction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841248"/>
            <a:ext cx="4407408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solidFill>
            <a:srgbClr val="1B7A8A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Obstetric Group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41248"/>
            <a:ext cx="4407408" cy="4023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batch correction · Single tissue harvest, no longitudinal timepoints · 112 samples · Positive Mode (POS)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Placenta · Negative Mode (NEG) · Before Batch Correction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solidFill>
            <a:srgbClr val="B03020"/>
          </a:solidFill>
          <a:ln/>
        </p:spPr>
      </p:sp>
      <p:sp>
        <p:nvSpPr>
          <p:cNvPr id="5" name="Text 3"/>
          <p:cNvSpPr/>
          <p:nvPr/>
        </p:nvSpPr>
        <p:spPr>
          <a:xfrm>
            <a:off x="1883664" y="566928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664" y="822960"/>
            <a:ext cx="5376672" cy="40325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batch correction · Single tissue harvest, no longitudinal timepoints · 112 samples · Negative Mode (NEG)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Placenta · Negative Mode (NEG) · After Batch Correction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solidFill>
            <a:srgbClr val="2E7D5A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Batch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841248"/>
            <a:ext cx="4407408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solidFill>
            <a:srgbClr val="1B7A8A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585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Correction · Coloured by Obstetric Group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41248"/>
            <a:ext cx="4407408" cy="4023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batch correction · Single tissue harvest, no longitudinal timepoints · 112 samples · Negative Mode (NEG)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Feature Pipeline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576072"/>
            <a:ext cx="260604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5760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576072"/>
            <a:ext cx="41148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98648" y="5760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576072"/>
            <a:ext cx="109728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5760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576072"/>
            <a:ext cx="109728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5760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(n)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576072"/>
            <a:ext cx="356616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576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923544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9235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(POS + NEG merged)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34640" y="923544"/>
            <a:ext cx="411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98648" y="923544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92354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9235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9,744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92354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9235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40680" y="923544"/>
            <a:ext cx="3566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9235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starting point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1344168"/>
            <a:ext cx="260604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13441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missingness filter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34640" y="1344168"/>
            <a:ext cx="4114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98648" y="13441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1344168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134416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9,744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43400" y="1344168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134416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0680" y="1344168"/>
            <a:ext cx="356616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13441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features &gt;20% missing in control or complication group. No features failed this threshold.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1764792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176479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missingness filter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34640" y="1764792"/>
            <a:ext cx="411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98648" y="1764792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46120" y="1764792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176479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9,744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43400" y="1764792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07408" y="176479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samples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40680" y="1764792"/>
            <a:ext cx="3566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176479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samples &gt;50% missing across features. Feature count unchanged.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2185416"/>
            <a:ext cx="260604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218541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QC-pool RSD filter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834640" y="2185416"/>
            <a:ext cx="4114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98648" y="2185416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46120" y="2185416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218541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1,074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343400" y="2185416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07408" y="218541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8,670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40680" y="2185416"/>
            <a:ext cx="356616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04688" y="218541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features with QC RSD &gt;30% in any batch, applied post-ComBat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28600" y="2606040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26060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filter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834640" y="2606040"/>
            <a:ext cx="411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98648" y="2606040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46120" y="2606040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260604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1,074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43400" y="2606040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07408" y="260604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440680" y="2606040"/>
            <a:ext cx="3566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04688" y="26060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near-constant and hypervariable features within timepoint. No features failed this threshold.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28600" y="3026664"/>
            <a:ext cx="260604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" y="30266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834640" y="3026664"/>
            <a:ext cx="4114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98648" y="3026664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46120" y="3026664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10128" y="30266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343400" y="3026664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07408" y="30266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572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440680" y="3026664"/>
            <a:ext cx="356616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04688" y="302666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dedup breakdown on the following slide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28600" y="3447288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2608" y="344728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filter (q &lt; 0.05)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834640" y="3447288"/>
            <a:ext cx="411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98648" y="344728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246120" y="344728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10128" y="344728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343400" y="344728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07408" y="344728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440680" y="3447288"/>
            <a:ext cx="3566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04688" y="34472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working subset: Control vs Complication cross-sectionally at all timepoints, plus all adjacent longitudinal delta comparisons across groups. q &lt; 0.05, BH-FDR. Any feature significant in at least one test is retained.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85" name="Text 83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409-feature set is the working subset used for downstream analyses. Cross-sectional: Mann-Whitney U, Control vs Complication. Longitudinal: Wilcoxon signed-rank on adjacent timepoint deltas. BH-FDR correction applied within each comparison.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Placenta · Feature Pipeline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576072"/>
            <a:ext cx="260604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57607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576072"/>
            <a:ext cx="41148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98648" y="5760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576072"/>
            <a:ext cx="109728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5760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576072"/>
            <a:ext cx="109728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5760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(n)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576072"/>
            <a:ext cx="356616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576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923544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9235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(POS + NEG merged)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34640" y="923544"/>
            <a:ext cx="411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98648" y="923544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92354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9235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5,435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923544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9235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40680" y="923544"/>
            <a:ext cx="3566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9235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starting point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1344168"/>
            <a:ext cx="260604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13441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missingness filter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34640" y="1344168"/>
            <a:ext cx="4114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98648" y="13441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1344168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134416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5,435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43400" y="1344168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07408" y="134416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40680" y="1344168"/>
            <a:ext cx="356616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13441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features &gt;20% missing in control or complication group. No features failed this threshold.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1764792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176479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missingness filter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34640" y="1764792"/>
            <a:ext cx="411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98648" y="1764792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46120" y="1764792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176479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5,435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43400" y="1764792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07408" y="176479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samples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40680" y="1764792"/>
            <a:ext cx="3566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176479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samples &gt;50% missing across features. Feature count unchanged.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2185416"/>
            <a:ext cx="260604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218541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QC-pool RSD filter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834640" y="2185416"/>
            <a:ext cx="4114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98648" y="2185416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46120" y="2185416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218541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343400" y="2185416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07408" y="218541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4,354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40680" y="2185416"/>
            <a:ext cx="356616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04688" y="218541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features with QC RSD &gt;30% in any batch, applied post-ComBat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28600" y="2606040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" y="260604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filter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834640" y="2606040"/>
            <a:ext cx="411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98648" y="2606040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46120" y="2606040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260604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1,081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43400" y="2606040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07408" y="260604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440680" y="2606040"/>
            <a:ext cx="3566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04688" y="26060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near-constant and hypervariable features. No features failed this threshold.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28600" y="3026664"/>
            <a:ext cx="260604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" y="302666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834640" y="3026664"/>
            <a:ext cx="4114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98648" y="3026664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46120" y="3026664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10128" y="30266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644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343400" y="3026664"/>
            <a:ext cx="109728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07408" y="30266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440680" y="3026664"/>
            <a:ext cx="3566160" cy="420624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04688" y="302666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dedup breakdown on the following slide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28600" y="3447288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2608" y="344728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filter (q &lt; 0.05)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834640" y="3447288"/>
            <a:ext cx="411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98648" y="344728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246120" y="344728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10128" y="344728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343400" y="3447288"/>
            <a:ext cx="10972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407408" y="344728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642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440680" y="3447288"/>
            <a:ext cx="35661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04688" y="34472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only — placenta is a single collection timepoint, no longitudinal data available. Control vs Complication, Mann-Whitney U + BH-FDR.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85" name="Text 83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samples: 53 Control, 32 HDP, 15 FGR, 12 sPTB. Placenta collected at delivery — single cross-section. Two features pass the differential threshold at q &lt; 0.05.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Plasma · Deduplication Breakdown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removes redundant signals from the same compound. Applied to the 1,074 features remaining after QC filtering, yielding 502 unique features with 572 dropped.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4592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10058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005840"/>
            <a:ext cx="146304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9384" y="100584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applied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77724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100584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dropped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1005840"/>
            <a:ext cx="173736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9664" y="10058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dropped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005840"/>
            <a:ext cx="315468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100584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371600"/>
            <a:ext cx="1645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3990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within-compound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74520" y="137160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13990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named-feature merge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371600"/>
            <a:ext cx="777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39903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1371600"/>
            <a:ext cx="1737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8808" y="13990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signals for the same named compound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1371600"/>
            <a:ext cx="3154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16168" y="139903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peaks sharing the same HMDB/compound name — one representative retained per compound by QC intensity. Sources: chromatographic co-elution, structural isomers with the same annotation, annotation conflicts.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1920240"/>
            <a:ext cx="164592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9476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— mass + 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74520" y="1920240"/>
            <a:ext cx="146304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38528" y="19476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named-feature merge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1920240"/>
            <a:ext cx="77724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194767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0" y="1920240"/>
            <a:ext cx="173736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78808" y="194767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features with identical m/z and retention time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1920240"/>
            <a:ext cx="315468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16168" y="194767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detections of the same ion with no annotation. Exact m/z + RT match used as identity criterion.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246888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24963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— formula + 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74520" y="246888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38528" y="24963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mass+RT merge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37560" y="2468880"/>
            <a:ext cx="777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249631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0" y="246888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78808" y="249631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features with the same molecular formula and RT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52160" y="2468880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16168" y="249631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putative molecular composition at the same elution window — treated as one compound.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2926080"/>
            <a:ext cx="164592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295351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— adduct graph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74520" y="2926080"/>
            <a:ext cx="146304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38528" y="295351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formula+RT merge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37560" y="2926080"/>
            <a:ext cx="77724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1568" y="2953512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0" y="2926080"/>
            <a:ext cx="173736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78808" y="295351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Adducts, isotope peaks, and in-source fragments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52160" y="2926080"/>
            <a:ext cx="315468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16168" y="295351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molecule produces multiple ions: [M+H]⁺, [M+Na]⁺, [M+K]⁺, ¹³C and ²H isotope peaks, and in-source fragments. Connected by a network within expected mass differences; the highest-abundance node is kept.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3675888"/>
            <a:ext cx="164592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" y="37033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74520" y="3675888"/>
            <a:ext cx="146304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38528" y="3703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337560" y="3675888"/>
            <a:ext cx="77724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01568" y="37033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572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114800" y="3675888"/>
            <a:ext cx="173736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78808" y="3703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852160" y="3675888"/>
            <a:ext cx="315468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16168" y="37033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applied sequentially. The representative feature retained within each group is selected by highest median intensity across QC samples.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MTBL Placenta · Deduplication Breakdown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removes redundant signals from the same compound. Applied to the 1,081 features remaining after QC filtering, yielding 644 unique features with 437 dropped.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64592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1005840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005840"/>
            <a:ext cx="146304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9384" y="100584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applied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77724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1005840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dropped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1005840"/>
            <a:ext cx="173736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9664" y="10058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dropped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005840"/>
            <a:ext cx="3154680" cy="365760"/>
          </a:xfrm>
          <a:prstGeom prst="rect">
            <a:avLst/>
          </a:prstGeom>
          <a:solidFill>
            <a:srgbClr val="0B2545"/>
          </a:solidFill>
          <a:ln w="635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07024" y="1005840"/>
            <a:ext cx="3072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371600"/>
            <a:ext cx="1645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3990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within-compound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74520" y="1371600"/>
            <a:ext cx="14630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139903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named-feature merge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371600"/>
            <a:ext cx="777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39903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1371600"/>
            <a:ext cx="1737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78808" y="13990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signals for the same named compound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52160" y="1371600"/>
            <a:ext cx="3154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16168" y="139903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peaks sharing the same HMDB/compound name — one representative retained per compound by QC intensity. Sources: chromatographic co-elution, structural isomers with the same annotation, annotation conflicts.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1920240"/>
            <a:ext cx="164592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9476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— mass + 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74520" y="1920240"/>
            <a:ext cx="146304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38528" y="19476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named-feature merge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1920240"/>
            <a:ext cx="77724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194767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0" y="1920240"/>
            <a:ext cx="173736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78808" y="194767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features with identical m/z and retention time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1920240"/>
            <a:ext cx="3154680" cy="548640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16168" y="1947672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detections of the same ion with no annotation. Exact m/z + RT match used as identity criterion.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246888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249631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— formula + 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74520" y="246888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38528" y="24963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mass+RT merge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37560" y="2468880"/>
            <a:ext cx="777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249631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0" y="2468880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78808" y="249631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features with the same molecular formula and RT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52160" y="2468880"/>
            <a:ext cx="3154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16168" y="249631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putative molecular composition at the same elution window — treated as one compound.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2926080"/>
            <a:ext cx="164592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2953512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Unnamed — adduct graph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74520" y="2926080"/>
            <a:ext cx="146304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38528" y="295351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formula+RT merge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37560" y="2926080"/>
            <a:ext cx="77724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1568" y="2953512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0" y="2926080"/>
            <a:ext cx="173736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78808" y="2953512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Adducts, isotope peaks, and in-source fragments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52160" y="2926080"/>
            <a:ext cx="3154680" cy="749808"/>
          </a:xfrm>
          <a:prstGeom prst="rect">
            <a:avLst/>
          </a:prstGeom>
          <a:solidFill>
            <a:srgbClr val="F7F9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16168" y="295351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molecule produces multiple ions: [M+H]⁺, [M+Na]⁺, [M+K]⁺, ¹³C and ²H isotope peaks, and in-source fragments. Connected by a network within expected mass differences; the highest-abundance node is kept.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3675888"/>
            <a:ext cx="164592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" y="37033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74520" y="3675888"/>
            <a:ext cx="146304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38528" y="3703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337560" y="3675888"/>
            <a:ext cx="77724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01568" y="37033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114800" y="3675888"/>
            <a:ext cx="173736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78808" y="3703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852160" y="3675888"/>
            <a:ext cx="3154680" cy="365760"/>
          </a:xfrm>
          <a:prstGeom prst="rect">
            <a:avLst/>
          </a:prstGeom>
          <a:solidFill>
            <a:srgbClr val="F2F4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16168" y="37033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D9EDF5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4901184"/>
            <a:ext cx="859536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applied sequentially. The representative feature retained within each group is selected by highest median intensity across QC samples.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MTBL Plasma &amp; Placenta – Preprocessing &amp; Modelling Summary</dc:title>
  <dc:subject>PptxGenJS Presentation</dc:subject>
  <dc:creator>Kayson Yao</dc:creator>
  <cp:lastModifiedBy>Kayson Yao</cp:lastModifiedBy>
  <cp:revision>1</cp:revision>
  <dcterms:created xsi:type="dcterms:W3CDTF">2026-05-05T21:30:06Z</dcterms:created>
  <dcterms:modified xsi:type="dcterms:W3CDTF">2026-05-05T21:30:06Z</dcterms:modified>
</cp:coreProperties>
</file>