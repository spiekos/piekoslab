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MTBL Plasma · Positive Mode (POS) · Before Batch Correction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83664" y="566928"/>
            <a:ext cx="5376672" cy="256032"/>
          </a:xfrm>
          <a:prstGeom prst="rect">
            <a:avLst/>
          </a:prstGeom>
          <a:solidFill>
            <a:srgbClr val="B03020"/>
          </a:solidFill>
          <a:ln/>
        </p:spPr>
      </p:sp>
      <p:sp>
        <p:nvSpPr>
          <p:cNvPr id="5" name="Text 3"/>
          <p:cNvSpPr/>
          <p:nvPr/>
        </p:nvSpPr>
        <p:spPr>
          <a:xfrm>
            <a:off x="1883664" y="566928"/>
            <a:ext cx="5376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Correction · Coloured by Batch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3664" y="822960"/>
            <a:ext cx="5376672" cy="40325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D9EDF5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4901184"/>
            <a:ext cx="859536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 (ref.batch=51223, bridge n=20) · Protected covariates: Subgroup, SampleGestAge, GestAgeDelivery · Positive Mode (POS)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MTBL Plasma · Positive Mode (POS) · After Batch Correction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64592" y="585216"/>
            <a:ext cx="4407408" cy="256032"/>
          </a:xfrm>
          <a:prstGeom prst="rect">
            <a:avLst/>
          </a:prstGeom>
          <a:solidFill>
            <a:srgbClr val="2E7D5A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" y="585216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Correction · Coloured by Batch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841248"/>
            <a:ext cx="4407408" cy="4023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54880" y="585216"/>
            <a:ext cx="4407408" cy="256032"/>
          </a:xfrm>
          <a:prstGeom prst="rect">
            <a:avLst/>
          </a:prstGeom>
          <a:solidFill>
            <a:srgbClr val="1B7A8A"/>
          </a:solidFill>
          <a:ln/>
        </p:spPr>
      </p:sp>
      <p:sp>
        <p:nvSpPr>
          <p:cNvPr id="8" name="Text 5"/>
          <p:cNvSpPr/>
          <p:nvPr/>
        </p:nvSpPr>
        <p:spPr>
          <a:xfrm>
            <a:off x="4754880" y="585216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Correction · Coloured by Group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841248"/>
            <a:ext cx="4407408" cy="40233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D9EDF5"/>
          </a:solidFill>
          <a:ln/>
        </p:spPr>
      </p:sp>
      <p:sp>
        <p:nvSpPr>
          <p:cNvPr id="11" name="Text 7"/>
          <p:cNvSpPr/>
          <p:nvPr/>
        </p:nvSpPr>
        <p:spPr>
          <a:xfrm>
            <a:off x="274320" y="4901184"/>
            <a:ext cx="859536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 (ref.batch=51223, bridge n=20) · Protected covariates: Subgroup, SampleGestAge, GestAgeDelivery · Positive Mode (POS)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MTBL Plasma · Negative Mode (NEG) · Before Batch Correction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83664" y="566928"/>
            <a:ext cx="5376672" cy="256032"/>
          </a:xfrm>
          <a:prstGeom prst="rect">
            <a:avLst/>
          </a:prstGeom>
          <a:solidFill>
            <a:srgbClr val="B03020"/>
          </a:solidFill>
          <a:ln/>
        </p:spPr>
      </p:sp>
      <p:sp>
        <p:nvSpPr>
          <p:cNvPr id="5" name="Text 3"/>
          <p:cNvSpPr/>
          <p:nvPr/>
        </p:nvSpPr>
        <p:spPr>
          <a:xfrm>
            <a:off x="1883664" y="566928"/>
            <a:ext cx="5376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Correction · Coloured by Batch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3664" y="822960"/>
            <a:ext cx="5376672" cy="40325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D9EDF5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4901184"/>
            <a:ext cx="859536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 (ref.batch=51223, bridge n=20) · Protected covariates: Subgroup, SampleGestAge, GestAgeDelivery · Negative Mode (NEG)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MTBL Plasma · Negative Mode (NEG) · After Batch Correction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64592" y="585216"/>
            <a:ext cx="4407408" cy="256032"/>
          </a:xfrm>
          <a:prstGeom prst="rect">
            <a:avLst/>
          </a:prstGeom>
          <a:solidFill>
            <a:srgbClr val="2E7D5A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" y="585216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Correction · Coloured by Batch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841248"/>
            <a:ext cx="4407408" cy="4023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54880" y="585216"/>
            <a:ext cx="4407408" cy="256032"/>
          </a:xfrm>
          <a:prstGeom prst="rect">
            <a:avLst/>
          </a:prstGeom>
          <a:solidFill>
            <a:srgbClr val="1B7A8A"/>
          </a:solidFill>
          <a:ln/>
        </p:spPr>
      </p:sp>
      <p:sp>
        <p:nvSpPr>
          <p:cNvPr id="8" name="Text 5"/>
          <p:cNvSpPr/>
          <p:nvPr/>
        </p:nvSpPr>
        <p:spPr>
          <a:xfrm>
            <a:off x="4754880" y="585216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Correction · Coloured by Group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841248"/>
            <a:ext cx="4407408" cy="40233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D9EDF5"/>
          </a:solidFill>
          <a:ln/>
        </p:spPr>
      </p:sp>
      <p:sp>
        <p:nvSpPr>
          <p:cNvPr id="11" name="Text 7"/>
          <p:cNvSpPr/>
          <p:nvPr/>
        </p:nvSpPr>
        <p:spPr>
          <a:xfrm>
            <a:off x="274320" y="4901184"/>
            <a:ext cx="859536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 (ref.batch=51223, bridge n=20) · Protected covariates: Subgroup, SampleGestAge, GestAgeDelivery · Negative Mode (NEG)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MTBL Plasma · Feature Pipeline — All Stages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" y="576072"/>
            <a:ext cx="2606040" cy="329184"/>
          </a:xfrm>
          <a:prstGeom prst="rect">
            <a:avLst/>
          </a:prstGeom>
          <a:solidFill>
            <a:srgbClr val="0B2545"/>
          </a:solidFill>
          <a:ln w="6350">
            <a:solidFill>
              <a:srgbClr val="0B2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" y="57607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834640" y="576072"/>
            <a:ext cx="411480" cy="329184"/>
          </a:xfrm>
          <a:prstGeom prst="rect">
            <a:avLst/>
          </a:prstGeom>
          <a:solidFill>
            <a:srgbClr val="0B2545"/>
          </a:solidFill>
          <a:ln w="6350">
            <a:solidFill>
              <a:srgbClr val="0B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98648" y="576072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576072"/>
            <a:ext cx="1097280" cy="329184"/>
          </a:xfrm>
          <a:prstGeom prst="rect">
            <a:avLst/>
          </a:prstGeom>
          <a:solidFill>
            <a:srgbClr val="0B2545"/>
          </a:solidFill>
          <a:ln w="6350">
            <a:solidFill>
              <a:srgbClr val="0B2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10128" y="5760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(n)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576072"/>
            <a:ext cx="1097280" cy="329184"/>
          </a:xfrm>
          <a:prstGeom prst="rect">
            <a:avLst/>
          </a:prstGeom>
          <a:solidFill>
            <a:srgbClr val="0B2545"/>
          </a:solidFill>
          <a:ln w="6350">
            <a:solidFill>
              <a:srgbClr val="0B2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07408" y="5760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(n)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40680" y="576072"/>
            <a:ext cx="3566160" cy="329184"/>
          </a:xfrm>
          <a:prstGeom prst="rect">
            <a:avLst/>
          </a:prstGeom>
          <a:solidFill>
            <a:srgbClr val="0B2545"/>
          </a:solidFill>
          <a:ln w="6350">
            <a:solidFill>
              <a:srgbClr val="0B2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04688" y="57607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905256"/>
            <a:ext cx="26060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905256"/>
            <a:ext cx="2514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(POS + NEG merged)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834640" y="905256"/>
            <a:ext cx="41148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98648" y="905256"/>
            <a:ext cx="3200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46120" y="905256"/>
            <a:ext cx="109728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905256"/>
            <a:ext cx="1005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9,744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43400" y="905256"/>
            <a:ext cx="109728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07408" y="905256"/>
            <a:ext cx="1005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40680" y="905256"/>
            <a:ext cx="356616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04688" y="905256"/>
            <a:ext cx="3474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 before any processing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" y="1202436"/>
            <a:ext cx="2606040" cy="297180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1202436"/>
            <a:ext cx="2514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QC RSD filter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834640" y="1202436"/>
            <a:ext cx="411480" cy="297180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98648" y="1202436"/>
            <a:ext cx="3200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46120" y="1202436"/>
            <a:ext cx="1097280" cy="297180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1202436"/>
            <a:ext cx="1005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1,074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343400" y="1202436"/>
            <a:ext cx="1097280" cy="297180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07408" y="1202436"/>
            <a:ext cx="1005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8,670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40680" y="1202436"/>
            <a:ext cx="3566160" cy="297180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04688" y="1202436"/>
            <a:ext cx="3474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features with QC RSD &gt; 30%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28600" y="1499616"/>
            <a:ext cx="26060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2608" y="1499616"/>
            <a:ext cx="2514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deduplication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834640" y="1499616"/>
            <a:ext cx="41148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98648" y="1499616"/>
            <a:ext cx="3200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46120" y="1499616"/>
            <a:ext cx="109728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10128" y="1499616"/>
            <a:ext cx="1005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502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343400" y="1499616"/>
            <a:ext cx="109728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07408" y="1499616"/>
            <a:ext cx="1005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572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440680" y="1499616"/>
            <a:ext cx="356616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04688" y="1499616"/>
            <a:ext cx="3474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dedup breakdown (next slide)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28600" y="1796796"/>
            <a:ext cx="2606040" cy="297180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2608" y="1796796"/>
            <a:ext cx="2514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differential filter (q &lt; 0.05)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834640" y="1796796"/>
            <a:ext cx="411480" cy="297180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898648" y="1796796"/>
            <a:ext cx="3200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246120" y="1796796"/>
            <a:ext cx="1097280" cy="297180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10128" y="1796796"/>
            <a:ext cx="1005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343400" y="1796796"/>
            <a:ext cx="1097280" cy="297180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07408" y="1796796"/>
            <a:ext cx="1005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462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440680" y="1796796"/>
            <a:ext cx="3566160" cy="297180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04688" y="1796796"/>
            <a:ext cx="3474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Mann-Whitney U + BH FDR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28600" y="2093976"/>
            <a:ext cx="26060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2608" y="2093976"/>
            <a:ext cx="2514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differential filter (q &lt; 0.05)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834640" y="2093976"/>
            <a:ext cx="41148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898648" y="2093976"/>
            <a:ext cx="3200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246120" y="2093976"/>
            <a:ext cx="109728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10128" y="2093976"/>
            <a:ext cx="1005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343400" y="2093976"/>
            <a:ext cx="109728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407408" y="2093976"/>
            <a:ext cx="1005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430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440680" y="2093976"/>
            <a:ext cx="356616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504688" y="2093976"/>
            <a:ext cx="3474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Mann-Whitney U + BH FDR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228600" y="2391156"/>
            <a:ext cx="2606040" cy="297180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92608" y="2391156"/>
            <a:ext cx="2514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differential filter (q &lt; 0.05)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2834640" y="2391156"/>
            <a:ext cx="411480" cy="297180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898648" y="2391156"/>
            <a:ext cx="3200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246120" y="2391156"/>
            <a:ext cx="1097280" cy="297180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310128" y="2391156"/>
            <a:ext cx="1005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343400" y="2391156"/>
            <a:ext cx="1097280" cy="297180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407408" y="2391156"/>
            <a:ext cx="1005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434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5440680" y="2391156"/>
            <a:ext cx="3566160" cy="297180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504688" y="2391156"/>
            <a:ext cx="3474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Mann-Whitney U + BH FDR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228600" y="2688336"/>
            <a:ext cx="26060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92608" y="2688336"/>
            <a:ext cx="2514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differential filter (q &lt; 0.05)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2834640" y="2688336"/>
            <a:ext cx="41148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898648" y="2688336"/>
            <a:ext cx="3200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3246120" y="2688336"/>
            <a:ext cx="109728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10128" y="2688336"/>
            <a:ext cx="1005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4343400" y="2688336"/>
            <a:ext cx="109728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407408" y="2688336"/>
            <a:ext cx="1005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453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5440680" y="2688336"/>
            <a:ext cx="356616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504688" y="2688336"/>
            <a:ext cx="3474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Mann-Whitney U + BH FDR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228600" y="2985516"/>
            <a:ext cx="2606040" cy="297180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92608" y="2985516"/>
            <a:ext cx="2514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differential filter (q &lt; 0.05)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2834640" y="2985516"/>
            <a:ext cx="411480" cy="297180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898648" y="2985516"/>
            <a:ext cx="3200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3246120" y="2985516"/>
            <a:ext cx="1097280" cy="297180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310128" y="2985516"/>
            <a:ext cx="1005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4343400" y="2985516"/>
            <a:ext cx="1097280" cy="297180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407408" y="2985516"/>
            <a:ext cx="1005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459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5440680" y="2985516"/>
            <a:ext cx="3566160" cy="297180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504688" y="2985516"/>
            <a:ext cx="3474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Mann-Whitney U + BH FDR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228600" y="3282696"/>
            <a:ext cx="26060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92608" y="3282696"/>
            <a:ext cx="2514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LASSO feature selection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2834640" y="3282696"/>
            <a:ext cx="41148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898648" y="3282696"/>
            <a:ext cx="3200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3246120" y="3282696"/>
            <a:ext cx="109728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310128" y="3282696"/>
            <a:ext cx="1005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4343400" y="3282696"/>
            <a:ext cx="109728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407408" y="3282696"/>
            <a:ext cx="1005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5440680" y="3282696"/>
            <a:ext cx="356616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504688" y="3282696"/>
            <a:ext cx="3474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Logistic Regression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228600" y="3579876"/>
            <a:ext cx="2606040" cy="297180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92608" y="3579876"/>
            <a:ext cx="2514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LASSO feature selection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2834640" y="3579876"/>
            <a:ext cx="411480" cy="297180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898648" y="3579876"/>
            <a:ext cx="3200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3246120" y="3579876"/>
            <a:ext cx="1097280" cy="297180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3310128" y="3579876"/>
            <a:ext cx="1005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4343400" y="3579876"/>
            <a:ext cx="1097280" cy="297180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407408" y="3579876"/>
            <a:ext cx="1005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112" name="Shape 110"/>
          <p:cNvSpPr/>
          <p:nvPr/>
        </p:nvSpPr>
        <p:spPr>
          <a:xfrm>
            <a:off x="5440680" y="3579876"/>
            <a:ext cx="3566160" cy="297180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504688" y="3579876"/>
            <a:ext cx="3474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Logistic Regression</a:t>
            </a:r>
            <a:endParaRPr lang="en-US" sz="950" dirty="0"/>
          </a:p>
        </p:txBody>
      </p:sp>
      <p:sp>
        <p:nvSpPr>
          <p:cNvPr id="114" name="Shape 112"/>
          <p:cNvSpPr/>
          <p:nvPr/>
        </p:nvSpPr>
        <p:spPr>
          <a:xfrm>
            <a:off x="228600" y="3877056"/>
            <a:ext cx="26060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292608" y="3877056"/>
            <a:ext cx="2514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LASSO feature selection</a:t>
            </a:r>
            <a:endParaRPr lang="en-US" sz="950" dirty="0"/>
          </a:p>
        </p:txBody>
      </p:sp>
      <p:sp>
        <p:nvSpPr>
          <p:cNvPr id="116" name="Shape 114"/>
          <p:cNvSpPr/>
          <p:nvPr/>
        </p:nvSpPr>
        <p:spPr>
          <a:xfrm>
            <a:off x="2834640" y="3877056"/>
            <a:ext cx="41148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2898648" y="3877056"/>
            <a:ext cx="3200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3246120" y="3877056"/>
            <a:ext cx="109728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3310128" y="3877056"/>
            <a:ext cx="1005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950" dirty="0"/>
          </a:p>
        </p:txBody>
      </p:sp>
      <p:sp>
        <p:nvSpPr>
          <p:cNvPr id="120" name="Shape 118"/>
          <p:cNvSpPr/>
          <p:nvPr/>
        </p:nvSpPr>
        <p:spPr>
          <a:xfrm>
            <a:off x="4343400" y="3877056"/>
            <a:ext cx="109728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407408" y="3877056"/>
            <a:ext cx="1005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122" name="Shape 120"/>
          <p:cNvSpPr/>
          <p:nvPr/>
        </p:nvSpPr>
        <p:spPr>
          <a:xfrm>
            <a:off x="5440680" y="3877056"/>
            <a:ext cx="356616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5504688" y="3877056"/>
            <a:ext cx="3474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Logistic Regression</a:t>
            </a:r>
            <a:endParaRPr lang="en-US" sz="950" dirty="0"/>
          </a:p>
        </p:txBody>
      </p:sp>
      <p:sp>
        <p:nvSpPr>
          <p:cNvPr id="124" name="Shape 122"/>
          <p:cNvSpPr/>
          <p:nvPr/>
        </p:nvSpPr>
        <p:spPr>
          <a:xfrm>
            <a:off x="228600" y="4174236"/>
            <a:ext cx="2606040" cy="297180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292608" y="4174236"/>
            <a:ext cx="2514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LASSO feature selection</a:t>
            </a:r>
            <a:endParaRPr lang="en-US" sz="950" dirty="0"/>
          </a:p>
        </p:txBody>
      </p:sp>
      <p:sp>
        <p:nvSpPr>
          <p:cNvPr id="126" name="Shape 124"/>
          <p:cNvSpPr/>
          <p:nvPr/>
        </p:nvSpPr>
        <p:spPr>
          <a:xfrm>
            <a:off x="2834640" y="4174236"/>
            <a:ext cx="411480" cy="297180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2898648" y="4174236"/>
            <a:ext cx="3200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50" dirty="0"/>
          </a:p>
        </p:txBody>
      </p:sp>
      <p:sp>
        <p:nvSpPr>
          <p:cNvPr id="128" name="Shape 126"/>
          <p:cNvSpPr/>
          <p:nvPr/>
        </p:nvSpPr>
        <p:spPr>
          <a:xfrm>
            <a:off x="3246120" y="4174236"/>
            <a:ext cx="1097280" cy="297180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3310128" y="4174236"/>
            <a:ext cx="1005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50" dirty="0"/>
          </a:p>
        </p:txBody>
      </p:sp>
      <p:sp>
        <p:nvSpPr>
          <p:cNvPr id="130" name="Shape 128"/>
          <p:cNvSpPr/>
          <p:nvPr/>
        </p:nvSpPr>
        <p:spPr>
          <a:xfrm>
            <a:off x="4343400" y="4174236"/>
            <a:ext cx="1097280" cy="297180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4407408" y="4174236"/>
            <a:ext cx="1005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32" name="Shape 130"/>
          <p:cNvSpPr/>
          <p:nvPr/>
        </p:nvSpPr>
        <p:spPr>
          <a:xfrm>
            <a:off x="5440680" y="4174236"/>
            <a:ext cx="3566160" cy="297180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5504688" y="4174236"/>
            <a:ext cx="3474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Logistic Regression</a:t>
            </a:r>
            <a:endParaRPr lang="en-US" sz="950" dirty="0"/>
          </a:p>
        </p:txBody>
      </p:sp>
      <p:sp>
        <p:nvSpPr>
          <p:cNvPr id="134" name="Shape 132"/>
          <p:cNvSpPr/>
          <p:nvPr/>
        </p:nvSpPr>
        <p:spPr>
          <a:xfrm>
            <a:off x="228600" y="4471416"/>
            <a:ext cx="26060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292608" y="4471416"/>
            <a:ext cx="2514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LASSO feature selection</a:t>
            </a:r>
            <a:endParaRPr lang="en-US" sz="950" dirty="0"/>
          </a:p>
        </p:txBody>
      </p:sp>
      <p:sp>
        <p:nvSpPr>
          <p:cNvPr id="136" name="Shape 134"/>
          <p:cNvSpPr/>
          <p:nvPr/>
        </p:nvSpPr>
        <p:spPr>
          <a:xfrm>
            <a:off x="2834640" y="4471416"/>
            <a:ext cx="41148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2898648" y="4471416"/>
            <a:ext cx="3200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50" dirty="0"/>
          </a:p>
        </p:txBody>
      </p:sp>
      <p:sp>
        <p:nvSpPr>
          <p:cNvPr id="138" name="Shape 136"/>
          <p:cNvSpPr/>
          <p:nvPr/>
        </p:nvSpPr>
        <p:spPr>
          <a:xfrm>
            <a:off x="3246120" y="4471416"/>
            <a:ext cx="109728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3310128" y="4471416"/>
            <a:ext cx="1005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140" name="Shape 138"/>
          <p:cNvSpPr/>
          <p:nvPr/>
        </p:nvSpPr>
        <p:spPr>
          <a:xfrm>
            <a:off x="4343400" y="4471416"/>
            <a:ext cx="109728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4407408" y="4471416"/>
            <a:ext cx="1005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50" dirty="0"/>
          </a:p>
        </p:txBody>
      </p:sp>
      <p:sp>
        <p:nvSpPr>
          <p:cNvPr id="142" name="Shape 140"/>
          <p:cNvSpPr/>
          <p:nvPr/>
        </p:nvSpPr>
        <p:spPr>
          <a:xfrm>
            <a:off x="5440680" y="4471416"/>
            <a:ext cx="356616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5504688" y="4471416"/>
            <a:ext cx="3474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Random Forest</a:t>
            </a:r>
            <a:endParaRPr lang="en-US" sz="950" dirty="0"/>
          </a:p>
        </p:txBody>
      </p:sp>
      <p:sp>
        <p:nvSpPr>
          <p:cNvPr id="144" name="Shape 142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D9EDF5"/>
          </a:solidFill>
          <a:ln/>
        </p:spPr>
      </p:sp>
      <p:sp>
        <p:nvSpPr>
          <p:cNvPr id="145" name="Text 143"/>
          <p:cNvSpPr/>
          <p:nvPr/>
        </p:nvSpPr>
        <p:spPr>
          <a:xfrm>
            <a:off x="274320" y="4901184"/>
            <a:ext cx="859536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Per-TP rows (diff filter &amp; LASSO) are independent pipelines — each timepoint uses only its own samples and features. Placenta excluded (only 2 diff-sig features).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MTBL Plasma · Deduplication Breakdown — Stage 3 of Pipeline (Post QC-filter → Pre-Differential)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59436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removes redundant signals from the same compound. Applied once to the 1,074 post-QC features, producing 502 unique features (572 dropped total).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1645920" cy="365760"/>
          </a:xfrm>
          <a:prstGeom prst="rect">
            <a:avLst/>
          </a:prstGeom>
          <a:solidFill>
            <a:srgbClr val="0B2545"/>
          </a:solidFill>
          <a:ln w="6350">
            <a:solidFill>
              <a:srgbClr val="0B2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3464" y="1005840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74520" y="1005840"/>
            <a:ext cx="1463040" cy="365760"/>
          </a:xfrm>
          <a:prstGeom prst="rect">
            <a:avLst/>
          </a:prstGeom>
          <a:solidFill>
            <a:srgbClr val="0B2545"/>
          </a:solidFill>
          <a:ln w="6350">
            <a:solidFill>
              <a:srgbClr val="0B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9384" y="1005840"/>
            <a:ext cx="1380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applied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005840"/>
            <a:ext cx="777240" cy="365760"/>
          </a:xfrm>
          <a:prstGeom prst="rect">
            <a:avLst/>
          </a:prstGeom>
          <a:solidFill>
            <a:srgbClr val="0B2545"/>
          </a:solidFill>
          <a:ln w="6350">
            <a:solidFill>
              <a:srgbClr val="0B2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92424" y="1005840"/>
            <a:ext cx="694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dropped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0" y="1005840"/>
            <a:ext cx="1737360" cy="365760"/>
          </a:xfrm>
          <a:prstGeom prst="rect">
            <a:avLst/>
          </a:prstGeom>
          <a:solidFill>
            <a:srgbClr val="0B2545"/>
          </a:solidFill>
          <a:ln w="6350">
            <a:solidFill>
              <a:srgbClr val="0B2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9664" y="1005840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dropped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52160" y="1005840"/>
            <a:ext cx="3154680" cy="365760"/>
          </a:xfrm>
          <a:prstGeom prst="rect">
            <a:avLst/>
          </a:prstGeom>
          <a:solidFill>
            <a:srgbClr val="0B2545"/>
          </a:solidFill>
          <a:ln w="6350">
            <a:solidFill>
              <a:srgbClr val="0B25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07024" y="1005840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1371600"/>
            <a:ext cx="1645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139903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within-compound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74520" y="1371600"/>
            <a:ext cx="14630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38528" y="1399032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named-feature merge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37560" y="1371600"/>
            <a:ext cx="777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01568" y="1399032"/>
            <a:ext cx="685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0" y="1371600"/>
            <a:ext cx="1737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78808" y="1399032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signals for the same named compound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852160" y="1371600"/>
            <a:ext cx="3154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16168" y="1399032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peaks with the same HMDB/compound name — keep one representative per compound (highest-QC feature). Causes: chromatographic co-elution, structural isomers sharing the same ID, annotation errors.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1920240"/>
            <a:ext cx="1645920" cy="548640"/>
          </a:xfrm>
          <a:prstGeom prst="rect">
            <a:avLst/>
          </a:prstGeom>
          <a:solidFill>
            <a:srgbClr val="F7F9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194767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Unnamed — mass + RT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874520" y="1920240"/>
            <a:ext cx="1463040" cy="548640"/>
          </a:xfrm>
          <a:prstGeom prst="rect">
            <a:avLst/>
          </a:prstGeom>
          <a:solidFill>
            <a:srgbClr val="F7F9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38528" y="1947672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named-feature merge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37560" y="1920240"/>
            <a:ext cx="777240" cy="548640"/>
          </a:xfrm>
          <a:prstGeom prst="rect">
            <a:avLst/>
          </a:prstGeom>
          <a:solidFill>
            <a:srgbClr val="F7F9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01568" y="1947672"/>
            <a:ext cx="685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0" y="1920240"/>
            <a:ext cx="1737360" cy="548640"/>
          </a:xfrm>
          <a:prstGeom prst="rect">
            <a:avLst/>
          </a:prstGeom>
          <a:solidFill>
            <a:srgbClr val="F7F9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78808" y="1947672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Unnamed features with identical m/z and retention time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852160" y="1920240"/>
            <a:ext cx="3154680" cy="548640"/>
          </a:xfrm>
          <a:prstGeom prst="rect">
            <a:avLst/>
          </a:prstGeom>
          <a:solidFill>
            <a:srgbClr val="F7F9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16168" y="1947672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detections of the same ion measured in both polarities or across features with no annotation. Exact m/z + RT match indicates the same molecule.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28600" y="2468880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2608" y="249631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Unnamed — formula + RT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874520" y="2468880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38528" y="249631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mass+RT merge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337560" y="2468880"/>
            <a:ext cx="777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01568" y="2496312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114800" y="2468880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78808" y="249631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Unnamed features with same molecular formula and RT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852160" y="2468880"/>
            <a:ext cx="3154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16168" y="2496312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putative molecular composition appearing at the same elution window — treated as one compound.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28600" y="2926080"/>
            <a:ext cx="1645920" cy="749808"/>
          </a:xfrm>
          <a:prstGeom prst="rect">
            <a:avLst/>
          </a:prstGeom>
          <a:solidFill>
            <a:srgbClr val="F7F9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2608" y="2953512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Unnamed — adduct graph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874520" y="2926080"/>
            <a:ext cx="1463040" cy="749808"/>
          </a:xfrm>
          <a:prstGeom prst="rect">
            <a:avLst/>
          </a:prstGeom>
          <a:solidFill>
            <a:srgbClr val="F7F9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38528" y="2953512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formula+RT merge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337560" y="2926080"/>
            <a:ext cx="777240" cy="749808"/>
          </a:xfrm>
          <a:prstGeom prst="rect">
            <a:avLst/>
          </a:prstGeom>
          <a:solidFill>
            <a:srgbClr val="F7F9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01568" y="2953512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114800" y="2926080"/>
            <a:ext cx="1737360" cy="749808"/>
          </a:xfrm>
          <a:prstGeom prst="rect">
            <a:avLst/>
          </a:prstGeom>
          <a:solidFill>
            <a:srgbClr val="F7F9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78808" y="2953512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Adducts, isotope peaks, and in-source fragments linked by network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852160" y="2926080"/>
            <a:ext cx="3154680" cy="749808"/>
          </a:xfrm>
          <a:prstGeom prst="rect">
            <a:avLst/>
          </a:prstGeom>
          <a:solidFill>
            <a:srgbClr val="F7F9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16168" y="2953512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molecule generates multiple ions: [M+H]⁺, [M+Na]⁺, [M+K]⁺, M+1 (¹³C), M+2 (²H) isotopes, and in-source fragments. A graph connects ions within expected mass differences; the highest-abundance node is kept as representative.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28600" y="3675888"/>
            <a:ext cx="1645920" cy="365760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92608" y="370332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874520" y="3675888"/>
            <a:ext cx="1463040" cy="365760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938528" y="3703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337560" y="3675888"/>
            <a:ext cx="777240" cy="365760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401568" y="370332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572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114800" y="3675888"/>
            <a:ext cx="1737360" cy="365760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178808" y="370332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852160" y="3675888"/>
            <a:ext cx="3154680" cy="365760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916168" y="370332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D9EDF5"/>
          </a:solidFill>
          <a:ln/>
        </p:spPr>
      </p:sp>
      <p:sp>
        <p:nvSpPr>
          <p:cNvPr id="66" name="Text 64"/>
          <p:cNvSpPr/>
          <p:nvPr/>
        </p:nvSpPr>
        <p:spPr>
          <a:xfrm>
            <a:off x="274320" y="4901184"/>
            <a:ext cx="859536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are applied sequentially. The 'representative' feature kept in each group is the one with the highest median intensity across QC samples.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MTBL Plasma – Preprocessing &amp; Modelling Summary</dc:title>
  <dc:subject>PptxGenJS Presentation</dc:subject>
  <dc:creator>Kayson Yao</dc:creator>
  <cp:lastModifiedBy>Kayson Yao</cp:lastModifiedBy>
  <cp:revision>1</cp:revision>
  <dcterms:created xsi:type="dcterms:W3CDTF">2026-05-02T02:12:30Z</dcterms:created>
  <dcterms:modified xsi:type="dcterms:W3CDTF">2026-05-02T02:12:30Z</dcterms:modified>
</cp:coreProperties>
</file>