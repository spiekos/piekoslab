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9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56"/>
    <p:restoredTop sz="94610"/>
  </p:normalViewPr>
  <p:slideViewPr>
    <p:cSldViewPr snapToGrid="0" snapToObjects="1">
      <p:cViewPr>
        <p:scale>
          <a:sx n="185" d="100"/>
          <a:sy n="185" d="100"/>
        </p:scale>
        <p:origin x="-28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  <Relationship Id="rId15" Type="http://schemas.openxmlformats.org/officeDocument/2006/relationships/slide" Target="slides/slide9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425105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slide: Multi-Omics Pipeline Review covering proteomics preprocessing, differential analysis, and water quality analysis.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11-step pipeline: load → standardise missing → QC mask → panel norm → remove controls → pivot wide → ComBat → missingness filter → impute → merge metadata →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ComBat corrects systematic batch shifts using empirical-Bayes. NaN values are temporarily filled with column medians before correction, then the original missingness mask is restored. The PCA comparison shows batch clusters dissolving post-correction.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Placenta runs through the identical ComBat pipeline. No visit splitting needed as it is a single cross-sectional sample taken at delivery. Density plot confirms all samples are well-distributed after cleaning.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Three-stage missingness handling: (1) global 20% cutoff removes noise-dominated proteins; (2) Fisher's exact detects missingness that is informatively different between groups; (3) half-minimum imputation assigns a detection floor to remaining NaN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Cross-sectional analysis: Mann-Whitney U with BH FDR (q&lt;0.05) AND |log2FC|&gt;=log2(1.5). Runs independently per timepoint for plasma, and once for placenta. Top 50 significant analytes are plotted as boxplots.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Longitudinal analysis uses Wilcoxon signed-rank on within-subject deltas for each adjacent timepoint pair. Runs separately for Control, FGR, HDP, sPTB, and a pooled Complication group. No fold-change filter — the delta is already direction-specific.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THM water quality analysis: Kruskal-Wallis tests for group differences across 6 average THM analytes and 3 exceedance flags. KS pairwise post-hoc with BH FDR. Outputs include violin+boxplots and ECDF curves.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9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2E4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731520"/>
            <a:ext cx="2743200" cy="27432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589520" y="-274320"/>
            <a:ext cx="1828800" cy="1828800"/>
          </a:xfrm>
          <a:prstGeom prst="ellipse">
            <a:avLst/>
          </a:prstGeom>
          <a:solidFill>
            <a:srgbClr val="5DADE2"/>
          </a:solidFill>
          <a:ln w="12700">
            <a:solidFill>
              <a:srgbClr val="5DAD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-914400" y="4206240"/>
            <a:ext cx="2286000" cy="228600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91440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Multi-Omics Pipeline Review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21488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AED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Proteomics Preprocessing · Differential Analysis · Water Quality Exposure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2606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Explore NPX  ·  ComBat Batch Correction  ·  Mann–Whitney U &amp; Wilcoxon  ·  THM Analysis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333756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n=133 participants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560320" y="333756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56032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Plasma (A–E)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333756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333756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3337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Olink NPX (log₂)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FB3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Kayson Yao  ·  Xu Lab Rotation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Proteomics Preprocessing Pipeline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62179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11-step orchestrator  ·  clean_proteomics_data.py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621792" y="98755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Raw Files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21792" y="117043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collect_olink_files() — all panels per tissue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274320" y="1408176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371600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 Missing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21792" y="1554480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"ORA_OUTSIDE_RANGE" → NaN; flag per-assay QC warnings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21792" y="1755648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QC Mask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" y="1938528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Zero-out samples with QC flag; preserve structure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74320" y="2176272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21792" y="2139696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Normalisation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21792" y="2322576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Subtract Olink internal bridge sample median per panel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74320" y="2560320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21792" y="2523744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Controls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" y="2706624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internal Olink control samples from analyte matrix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2944368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4320" y="29443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621792" y="290779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Wide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21792" y="309067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NPX → wide (rows=subjects, cols=proteins)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663440" y="1024128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663440" y="102412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010912" y="98755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ComBat Correction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5010912" y="1170432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pycombat empirical-Bayes; mask NaN before, restore after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4663440" y="1408176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63440" y="14081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5010912" y="1371600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Filter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5010912" y="1554480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if &gt;20% missing overall; Fisher's exact + BH FDR per group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4663440" y="1792224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4663440" y="1792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010912" y="1755648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Half-Min Imputation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010912" y="1938528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NaN with col_min − 1 (log₂ half-minimum)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2176272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663440" y="21762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010912" y="2139696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Metadata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010912" y="2322576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Group, SubjectID, batch from Excel (n=133 sheet)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2560320"/>
            <a:ext cx="292608" cy="29260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6634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10912" y="2523744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Outputs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5010912" y="2706624"/>
            <a:ext cx="37673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per tissue + diagnostics plots (PCA, density, boxplots)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480560" y="914400"/>
            <a:ext cx="0" cy="402336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identically to Plasma and Placenta tissues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Batch Correction — Plasma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Olink assay batches with systematic median shifts between runs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20040" y="135331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645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pycombat (Python) — empirical Bayes shrinkage of batch means &amp; variances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90195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21945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Save NaN mask before correction (median-fill temporari-ly)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Restore NaN after ComBat so missingness is not inflated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70662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Batch variable from Excel metadata sheet "n=133 proteomics"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2962656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255264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PC1/PC2 batch clustering eliminated; biological variation retained</a:t>
            </a:r>
            <a:endParaRPr lang="en-US" sz="10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13232"/>
            <a:ext cx="4846320" cy="18836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0040" y="358444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Assay batch median convergence post-ComBat: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6732" y="2715768"/>
            <a:ext cx="4729190" cy="203911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13716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ComBat Batch Correction — Placenta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49808"/>
            <a:ext cx="3566160" cy="1005840"/>
          </a:xfrm>
          <a:prstGeom prst="roundRect">
            <a:avLst>
              <a:gd name="adj" fmla="val 5455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04672"/>
            <a:ext cx="3383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ComBat workflow as plasma.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 is a single cross-sectional tissue (one draw at delivery), so no visit-splitting step applies.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0040" y="1938528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87452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3 had the fewest samples — smallest group; ComBat handles this via Bayes shrinkage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2276856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02920" y="2212848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normalization applied first (before ComBat) to remove inter-panel offset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" y="2615184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502920" y="2551176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cutoff 20% applied identically after correction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53512"/>
            <a:ext cx="128016" cy="128016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02920" y="2889504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Placenta file: proteomics_placenta_cleaned_with_metadata.csv</a:t>
            </a:r>
            <a:endParaRPr lang="en-US" sz="950" dirty="0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731520"/>
            <a:ext cx="4846320" cy="1883664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320040" y="3310128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Sample-level NPX density distribution (post-cleaning):</a:t>
            </a:r>
            <a:endParaRPr lang="en-US" sz="10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2584968"/>
            <a:ext cx="3020164" cy="17422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224377" y="4135208"/>
            <a:ext cx="3291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line = one sample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distributions confirm no outlier samples post-correction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6F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Missingness Filter, Imputation &amp; Post-QC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2743200" cy="2103120"/>
          </a:xfrm>
          <a:prstGeom prst="roundRect">
            <a:avLst>
              <a:gd name="adj" fmla="val 3043"/>
            </a:avLst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11480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Missingness Filter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11480" y="1207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Cutoff: 20% (CUTOFF_PERCENT_MISSING=0.20)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444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protein if &gt;20% of all samples are NaN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after ComBat; ensures analytes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enough data for statistical testing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46120" y="777240"/>
            <a:ext cx="2743200" cy="2103120"/>
          </a:xfrm>
          <a:prstGeom prst="roundRect">
            <a:avLst>
              <a:gd name="adj" fmla="val 3043"/>
            </a:avLst>
          </a:prstGeom>
          <a:solidFill>
            <a:srgbClr val="1A5276"/>
          </a:solidFill>
          <a:ln w="12700">
            <a:solidFill>
              <a:srgbClr val="1A527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37560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Group-Level Check (Fisher's Exact)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37560" y="1207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remaining protein, test whether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337560" y="1444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missingness differs between Control and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37560" y="16824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 (FGR/HDP/sPTB pooled)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3756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FDR q&lt;0.05 → flag analyte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72200" y="777240"/>
            <a:ext cx="2743200" cy="2103120"/>
          </a:xfrm>
          <a:prstGeom prst="roundRect">
            <a:avLst>
              <a:gd name="adj" fmla="val 3043"/>
            </a:avLst>
          </a:prstGeom>
          <a:solidFill>
            <a:srgbClr val="0E6655"/>
          </a:solidFill>
          <a:ln w="12700">
            <a:solidFill>
              <a:srgbClr val="0E66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263640" y="84124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Half-Minimum Imputation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63640" y="120700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remaining NaN with col.min() − 1.0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6263640" y="144475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log₂ space = half the minimum value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263640" y="1682496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Convention: "below detection" rather than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263640" y="19202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D6E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— preserves rank ordering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" y="2990088"/>
            <a:ext cx="850392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Per-sample NPX distribution after all cleaning steps (Plasma):</a:t>
            </a:r>
            <a:endParaRPr lang="en-US" sz="105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264408"/>
            <a:ext cx="8503920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Analysis — Cross-Sectional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411480" y="10332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Control (n≥5) vs. Complication (FGR+HDP+sPTB pooled)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2527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Run independently at each plasma timepoint (A–E)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411480" y="147218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Also run on placenta (single cross-sectional)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20040" y="1764792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Test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020824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Mann–Whitney U (two-sided, non-parametric)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4028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 normality assumption — appropriate for NPX data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11480" y="245973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Minimum n=5 non-missing observations per group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" y="2752344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Testing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11480" y="3008376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Benjamini–Hochberg FDR correction across all proteins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11480" y="322783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Significance: q&lt;0.05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320040" y="3520440"/>
            <a:ext cx="37490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 Filter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11480" y="3776472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|log₂FC| ≥ log₂(1.5) ≈ 0.585 — only 50% fold change or more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95928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Removes statistical but biologically negligible hits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160520" y="749808"/>
            <a:ext cx="4663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significant analyte — HDGF (Plasma timepoint B):</a:t>
            </a:r>
            <a:endParaRPr lang="en-US" sz="950" dirty="0"/>
          </a:p>
        </p:txBody>
      </p:sp>
      <p:pic>
        <p:nvPicPr>
          <p:cNvPr id="1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005840"/>
            <a:ext cx="4663440" cy="2084832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4160520" y="3182112"/>
            <a:ext cx="164592" cy="164592"/>
          </a:xfrm>
          <a:prstGeom prst="rect">
            <a:avLst/>
          </a:prstGeom>
          <a:solidFill>
            <a:srgbClr val="1E8449"/>
          </a:solidFill>
          <a:ln w="12700">
            <a:solidFill>
              <a:srgbClr val="1E844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4361688" y="3163824"/>
            <a:ext cx="10972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212080" y="3182112"/>
            <a:ext cx="164592" cy="16459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5413248" y="3163824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Complication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160520" y="3429000"/>
            <a:ext cx="4663440" cy="1600200"/>
          </a:xfrm>
          <a:prstGeom prst="roundRect">
            <a:avLst>
              <a:gd name="adj" fmla="val 4000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297680" y="3493008"/>
            <a:ext cx="4389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summary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4297680" y="3767328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Results CSV: Control_vs_Complication_differential_results.csv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297680" y="4023360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Top-50 analytes plotted as boxplots per timepoint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297680" y="4279392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Heatmap (seaborn clustermap, Ward linkage, z-score ±2.5)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4297680" y="4535424"/>
            <a:ext cx="4389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Files: differential_analysis/plasma/cross_sectional/[A–E]/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Differential Analysis — Longitudinal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94360" y="1161288"/>
            <a:ext cx="4818888" cy="0"/>
          </a:xfrm>
          <a:prstGeom prst="line">
            <a:avLst/>
          </a:prstGeom>
          <a:noFill/>
          <a:ln w="254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13533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~T1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645920" y="1005840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64592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554480" y="13533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~T2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34640" y="1005840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83464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0" y="13533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~T3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023360" y="1005840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02336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931920" y="13533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5212080" y="1005840"/>
            <a:ext cx="320040" cy="32004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5212080" y="10058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120640" y="1353312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Postnatal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777240" y="1024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B–A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965960" y="1024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C–B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154680" y="1024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D–C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343400" y="1024128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5DAD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E–D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20040" y="169164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463040" y="169164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Wilcoxon signed-rank on within-subject Δ (paired)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20040" y="1947672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Groups: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463040" y="1947672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Control, FGR, HDP, sPTB (individually) + pooled Complication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" y="2203704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Pairing: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463040" y="2203704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SubjectID — matched across adjacent timepoints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320040" y="2459736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Transitions: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463040" y="2459736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adjacent steps: B–A, C–B, D–C, E–D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0040" y="2715768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Significance: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463040" y="2715768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 FDR q&lt;0.05 (no fold-change threshold — deltas already directional)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320040" y="2971800"/>
            <a:ext cx="1097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Rationale: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1463040" y="2971800"/>
            <a:ext cx="32918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 removes inter-subject variability; captures trajectory change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92040" y="749808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AFP — longitudinal trajectory (Control vs Complication):</a:t>
            </a:r>
            <a:endParaRPr lang="en-US" sz="950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1005840"/>
            <a:ext cx="3931920" cy="1984248"/>
          </a:xfrm>
          <a:prstGeom prst="rect">
            <a:avLst/>
          </a:prstGeom>
        </p:spPr>
      </p:pic>
      <p:sp>
        <p:nvSpPr>
          <p:cNvPr id="38" name="Shape 35"/>
          <p:cNvSpPr/>
          <p:nvPr/>
        </p:nvSpPr>
        <p:spPr>
          <a:xfrm>
            <a:off x="320040" y="3429000"/>
            <a:ext cx="8503920" cy="1618488"/>
          </a:xfrm>
          <a:prstGeom prst="roundRect">
            <a:avLst>
              <a:gd name="adj" fmla="val 3955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457200" y="3493008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57200" y="3767328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CSV: longitudinal_&lt;transition&gt;_&lt;Group&gt;_results.csv  (one per transition × group)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457200" y="4069080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Top-50 longitudinal analytes plotted as multi-timepoint boxplots with per-subject trajectories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457200" y="4370832"/>
            <a:ext cx="8229600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Files: differential_analysis/plasma/longitudinal/ &amp; longitudinal_boxplots/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320040" y="13716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E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Water Quality Analysis — THM Exposure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7724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" y="103327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AVG: TTHM, Br-THM, CHCl3, CHBr3, BDCM, CDBM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11480" y="124358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EXCEED: binary flag (1=exceeds regulatory threshold)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545336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test — Kruskal–Wallis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80136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Non-parametric one-way ANOVA across groups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2011680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(Control, FGR, HDP, sPTB)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20040" y="2313432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Post-hoc pairwise — KS test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256946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Kolmogorov–Smirnov for each pair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7977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Tests full distribution shape (not just medians)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11480" y="2990088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BH FDR correction across all pairwise tests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20040" y="3291840"/>
            <a:ext cx="35661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1480" y="3547872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Violin + boxplot per analyte × group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11480" y="3758184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ECDF curves for distribution comparison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11480" y="3968496"/>
            <a:ext cx="3429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Combined multi-panel distribution figure</a:t>
            </a:r>
            <a:endParaRPr lang="en-US" sz="95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713232"/>
            <a:ext cx="4754880" cy="3017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4069080" y="3730752"/>
            <a:ext cx="4754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Violin + box distributions: each THM analyte by obstetric group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886200" y="3915824"/>
            <a:ext cx="3657600" cy="1216152"/>
          </a:xfrm>
          <a:prstGeom prst="roundRect">
            <a:avLst>
              <a:gd name="adj" fmla="val 5263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3840480" y="3941064"/>
            <a:ext cx="33832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3840480" y="4187952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water_avg_stats_results.csv  (KW + KS p-values)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3840480" y="4404310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water_avg_significant_pairs.csv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3840480" y="4605478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water_avg_distribution.png  |  water_avg_ecdf.png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3840480" y="4806646"/>
            <a:ext cx="3383280" cy="192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5D6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Saved to: 04_results_and_figures/survey/water/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CDF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!-- Background: white -->
      <p:sp>
        <p:nvSpPr>
          <p:cNvPr id="2" name="bg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/>
        </p:txBody>
      </p:sp>
      <!-- ECDF image FIRST so it renders BEHIND title text -->
      <!-- Image: 3.3" wide x 5.23" tall (aspect-ratio correct for 4023x6379)   -->
      <!-- x=5.65" y=0.10"  cx=3017520 cy=4784678                               -->
      <p:pic>
        <p:nvPicPr>
          <p:cNvPr id="12" name="ecdf_img" descr="water_avg_ec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6360" y="91440"/>
            <a:ext cx="3017520" cy="4784678"/>
          </a:xfrm>
          <a:prstGeom prst="rect">
            <a:avLst/>
          </a:prstGeom>
        </p:spPr>
      </p:pic>
      <!-- Thin vertical divider at x=5.5" -->
      <p:sp>
        <p:nvSpPr>
          <p:cNvPr id="13" name="divider"/>
          <p:cNvSpPr/>
          <p:nvPr/>
        </p:nvSpPr>
        <p:spPr>
          <a:xfrm>
            <a:off x="5029200" y="137160"/>
            <a:ext cx="9144" cy="4572000"/>
          </a:xfrm>
          <a:prstGeom prst="rect">
            <a:avLst/>
          </a:prstGeom>
          <a:solidFill>
            <a:srgbClr val="D6EAF8"/>
          </a:solidFill>
          <a:ln/>
        </p:spPr>
        <p:txBody>
          <a:bodyPr/>
          <a:lstStyle/>
          <a:p/>
        </p:txBody>
      </p:sp>
      <!-- TITLE (left side only, 5.15" wide) -->
      <p:sp>
        <p:nvSpPr>
          <p:cNvPr id="3" name="Title"/>
          <p:cNvSpPr/>
          <p:nvPr/>
        </p:nvSpPr>
        <p:spPr>
          <a:xfrm>
            <a:off x="320040" y="137160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2E4A"/>
                </a:solidFill>
                <a:latin typeface="Cambria" pitchFamily="34" charset="0"/>
              </a:rPr>
              <a:t>Water Quality — THM Concentrations (ECDF)</a:t>
            </a:r>
            <a:endParaRPr lang="en-US" sz="2200" dirty="0"/>
          </a:p>
        </p:txBody>
      </p:sp>
      <!-- LEFT: header "What is an ECDF?" -->
      <p:sp>
        <p:nvSpPr>
          <p:cNvPr id="4" name="hdr1"/>
          <p:cNvSpPr/>
          <p:nvPr/>
        </p:nvSpPr>
        <p:spPr>
          <a:xfrm>
            <a:off x="320040" y="77724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</a:rPr>
              <a:t>What is an ECDF?</a:t>
            </a:r>
            <a:endParaRPr lang="en-US" sz="1100" dirty="0"/>
          </a:p>
        </p:txBody>
      </p:sp>
      <!-- LEFT: body "What is an ECDF?" -->
      <p:sp>
        <p:nvSpPr>
          <p:cNvPr id="5" name="body1"/>
          <p:cNvSpPr/>
          <p:nvPr/>
        </p:nvSpPr>
        <p:spPr>
          <a:xfrm>
            <a:off x="411480" y="103327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</a:rPr>
              <a:t>The y-axis shows the fraction of participants with exposure at or below x. Curves that overlap indicate similar distributions; a rightward shift means higher exposure in that group. Each row is one THM analyte; each column compares Control vs. one complication group.</a:t>
            </a:r>
            <a:endParaRPr lang="en-US" sz="900" dirty="0"/>
          </a:p>
        </p:txBody>
      </p:sp>
      <!-- LEFT: header "Reading the KS annotation" -->
      <p:sp>
        <p:nvSpPr>
          <p:cNvPr id="6" name="hdr2"/>
          <p:cNvSpPr/>
          <p:nvPr/>
        </p:nvSpPr>
        <p:spPr>
          <a:xfrm>
            <a:off x="320040" y="1700280"/>
            <a:ext cx="466344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980B9"/>
                </a:solidFill>
                <a:latin typeface="Calibri" pitchFamily="34" charset="0"/>
              </a:rPr>
              <a:t>Reading the KS annotation</a:t>
            </a:r>
            <a:endParaRPr lang="en-US" sz="1100" dirty="0"/>
          </a:p>
        </p:txBody>
      </p:sp>
      <!-- LEFT: body "Reading the KS annotation" -->
      <p:sp>
        <p:nvSpPr>
          <p:cNvPr id="7" name="body2"/>
          <p:cNvSpPr/>
          <p:nvPr/>
        </p:nvSpPr>
        <p:spPr>
          <a:xfrm>
            <a:off x="411480" y="1956312"/>
            <a:ext cx="44805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</a:rPr>
              <a:t>Each panel shows KS (max vertical gap between the two curves) and q (BH FDR-corrected p-value). Crimson text and *** signal significance. All q-values here are &gt;0.05 — no significant difference detected in any comparison.</a:t>
            </a:r>
            <a:endParaRPr lang="en-US" sz="900" dirty="0"/>
          </a:p>
        </p:txBody>
      </p:sp>
      <!-- LEFT: Key finding box (rounded rect background) -->
      <p:sp>
        <p:nvSpPr>
          <p:cNvPr id="8" name="finding_box"/>
          <p:cNvSpPr/>
          <p:nvPr/>
        </p:nvSpPr>
        <p:spPr>
          <a:xfrm>
            <a:off x="320040" y="2743200"/>
            <a:ext cx="4663440" cy="1097280"/>
          </a:xfrm>
          <a:prstGeom prst="roundRect">
            <a:avLst>
              <a:gd name="adj" fmla="val 5263"/>
            </a:avLst>
          </a:prstGeom>
          <a:solidFill>
            <a:srgbClr val="D6EAF8"/>
          </a:solidFill>
          <a:ln w="12700">
            <a:solidFill>
              <a:srgbClr val="AED6F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!-- LEFT: Key finding header -->
      <p:sp>
        <p:nvSpPr>
          <p:cNvPr id="9" name="finding_hdr"/>
          <p:cNvSpPr/>
          <p:nvPr/>
        </p:nvSpPr>
        <p:spPr>
          <a:xfrm>
            <a:off x="411480" y="2780640"/>
            <a:ext cx="448056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E4A"/>
                </a:solidFill>
                <a:latin typeface="Calibri" pitchFamily="34" charset="0"/>
              </a:rPr>
              <a:t>Key finding</a:t>
            </a:r>
            <a:endParaRPr lang="en-US" sz="1000" dirty="0"/>
          </a:p>
        </p:txBody>
      </p:sp>
      <!-- LEFT: Key finding body -->
      <p:sp>
        <p:nvSpPr>
          <p:cNvPr id="10" name="finding_body"/>
          <p:cNvSpPr/>
          <p:nvPr/>
        </p:nvSpPr>
        <p:spPr>
          <a:xfrm>
            <a:off x="411480" y="3036672"/>
            <a:ext cx="4480560" cy="73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D6D7E"/>
                </a:solidFill>
                <a:latin typeface="Calibri" pitchFamily="34" charset="0"/>
              </a:rPr>
              <a:t>No significant group differences in THM exposure (KW+KS, BH FDR q&gt;0.05 for all 18 comparisons). sPTB shows the largest separation for Br-THM and BDCM (KS≈0.30) but does not survive correction. Likely a power issue given sPTB n=19.</a:t>
            </a:r>
            <a:endParaRPr lang="en-US" sz="900" dirty="0"/>
          </a:p>
        </p:txBody>
      </p:sp>
      <!-- LEFT: Layout note (italic) -->
      <p:sp>
        <p:nvSpPr>
          <p:cNvPr id="11" name="layout_note"/>
          <p:cNvSpPr/>
          <p:nvPr/>
        </p:nvSpPr>
        <p:spPr>
          <a:xfrm>
            <a:off x="320040" y="396936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00" i="1" dirty="0">
                <a:solidFill>
                  <a:srgbClr val="5D6D7E"/>
                </a:solidFill>
                <a:latin typeface="Calibri" pitchFamily="34" charset="0"/>
              </a:rPr>
              <a:t>Rows: TTHM, Br-THM, CHCl₃, CHBr₃, BDCM, CDBM (avg concentration µg/L). Columns: Control (n=230) vs FGR (n=23), HDP (n=52), sPTB (n=19).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1358</Words>
  <Application>Microsoft Macintosh PowerPoint</Application>
  <PresentationFormat>On-screen Show (16:9)</PresentationFormat>
  <Paragraphs>175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Kayson Yao</cp:lastModifiedBy>
  <cp:revision>4</cp:revision>
  <dcterms:created xsi:type="dcterms:W3CDTF">2026-07-21T05:30:35Z</dcterms:created>
  <dcterms:modified xsi:type="dcterms:W3CDTF">2026-07-21T05:42:56Z</dcterms:modified>
</cp:coreProperties>
</file>